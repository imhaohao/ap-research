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16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863840" cy="38404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Study Logic: How the Design Answers the 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75320" y="173736"/>
            <a:ext cx="3474720" cy="25603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r"/>
            <a:r>
              <a:rPr sz="1050" b="0">
                <a:solidFill>
                  <a:srgbClr val="D6E2F4"/>
                </a:solidFill>
                <a:latin typeface="Aptos"/>
              </a:rPr>
              <a:t>AP Research | editable PPTX for Canva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868680"/>
            <a:ext cx="32461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024128"/>
            <a:ext cx="1463040" cy="292608"/>
          </a:xfrm>
          <a:prstGeom prst="roundRect">
            <a:avLst/>
          </a:prstGeom>
          <a:solidFill>
            <a:srgbClr val="2E66A6"/>
          </a:solidFill>
          <a:ln w="12700">
            <a:solidFill>
              <a:srgbClr val="2E6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RESEARCH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17320"/>
            <a:ext cx="2880360" cy="9144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2D4C"/>
                </a:solidFill>
                <a:latin typeface="Aptos"/>
              </a:rPr>
              <a:t>Does explicit prompt-engineering instruction change how students use AI for school writing?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331720"/>
            <a:ext cx="2862072" cy="34747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/>
            <a:r>
              <a:rPr sz="1180" b="0">
                <a:solidFill>
                  <a:srgbClr val="5E6773"/>
                </a:solidFill>
                <a:latin typeface="Aptos"/>
              </a:rPr>
              <a:t>Operationalized as ethical use, prompt iteration, verification, and writing-revision behavior.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971800"/>
            <a:ext cx="32461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3127248"/>
            <a:ext cx="1143000" cy="292608"/>
          </a:xfrm>
          <a:prstGeom prst="roundRect">
            <a:avLst/>
          </a:prstGeom>
          <a:solidFill>
            <a:srgbClr val="1C8084"/>
          </a:solidFill>
          <a:ln w="12700">
            <a:solidFill>
              <a:srgbClr val="1C8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ASSIGNMENT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493008"/>
            <a:ext cx="2889504" cy="1078992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232B37"/>
                </a:solidFill>
                <a:latin typeface="Aptos"/>
              </a:defRPr>
            </a:pPr>
            <a:r>
              <a:t>Arm A: control reading + unrestricted AI</a:t>
            </a:r>
          </a:p>
          <a:p>
            <a:pPr>
              <a:spcAft>
                <a:spcPts val="500"/>
              </a:spcAft>
              <a:defRPr sz="1120">
                <a:solidFill>
                  <a:srgbClr val="232B37"/>
                </a:solidFill>
                <a:latin typeface="Aptos"/>
              </a:defRPr>
            </a:pPr>
            <a:r>
              <a:t>Arm B: prompt module + guided AI coach</a:t>
            </a:r>
          </a:p>
          <a:p>
            <a:pPr>
              <a:spcAft>
                <a:spcPts val="500"/>
              </a:spcAft>
              <a:defRPr sz="1120">
                <a:solidFill>
                  <a:srgbClr val="232B37"/>
                </a:solidFill>
                <a:latin typeface="Aptos"/>
              </a:defRPr>
            </a:pPr>
            <a:r>
              <a:t>Arm C: prompt module + guided coach + prompt bank</a:t>
            </a:r>
          </a:p>
          <a:p>
            <a:pPr>
              <a:spcAft>
                <a:spcPts val="500"/>
              </a:spcAft>
              <a:defRPr sz="1120">
                <a:solidFill>
                  <a:srgbClr val="232B37"/>
                </a:solidFill>
                <a:latin typeface="Aptos"/>
              </a:defRPr>
            </a:pPr>
            <a:r>
              <a:t>Primary analysis can collapse B/C as treatment vs A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868680"/>
            <a:ext cx="4389120" cy="310896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62D4C"/>
                </a:solidFill>
                <a:latin typeface="Aptos"/>
              </a:rPr>
              <a:t>Evidence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1152144"/>
            <a:ext cx="4480560" cy="25603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/>
            <a:r>
              <a:rPr sz="1070" b="0">
                <a:solidFill>
                  <a:srgbClr val="5E6773"/>
                </a:solidFill>
                <a:latin typeface="Aptos"/>
              </a:rPr>
              <a:t>The app collects comparable before/after and behavioral data from the same writing arena.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22191" y="1572768"/>
            <a:ext cx="141732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6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30" b="0">
                <a:solidFill>
                  <a:srgbClr val="232B37"/>
                </a:solidFill>
                <a:latin typeface="Aptos"/>
              </a:rPr>
              <a:t>1. Pre-test
TF + open-ended + hallucination items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22191" y="1572768"/>
            <a:ext cx="1417320" cy="73152"/>
          </a:xfrm>
          <a:prstGeom prst="rect">
            <a:avLst/>
          </a:prstGeom>
          <a:solidFill>
            <a:srgbClr val="2E6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5349240" y="1819656"/>
            <a:ext cx="347472" cy="256032"/>
          </a:xfrm>
          <a:prstGeom prst="rightArrow">
            <a:avLst/>
          </a:prstGeom>
          <a:solidFill>
            <a:srgbClr val="AAB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788152" y="1572768"/>
            <a:ext cx="141732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8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30" b="0">
                <a:solidFill>
                  <a:srgbClr val="232B37"/>
                </a:solidFill>
                <a:latin typeface="Aptos"/>
              </a:rPr>
              <a:t>2. Module
Control reading or 3 interactive scenarios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88152" y="1572768"/>
            <a:ext cx="1417320" cy="73152"/>
          </a:xfrm>
          <a:prstGeom prst="rect">
            <a:avLst/>
          </a:prstGeom>
          <a:solidFill>
            <a:srgbClr val="1C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7315200" y="1819656"/>
            <a:ext cx="347472" cy="256032"/>
          </a:xfrm>
          <a:prstGeom prst="rightArrow">
            <a:avLst/>
          </a:prstGeom>
          <a:solidFill>
            <a:srgbClr val="AAB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54112" y="1572768"/>
            <a:ext cx="141732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6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30" b="0">
                <a:solidFill>
                  <a:srgbClr val="232B37"/>
                </a:solidFill>
                <a:latin typeface="Aptos"/>
              </a:rPr>
              <a:t>3. CRAFT Task
Human draft → AI sample → compare → revise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54112" y="1572768"/>
            <a:ext cx="1417320" cy="73152"/>
          </a:xfrm>
          <a:prstGeom prst="rect">
            <a:avLst/>
          </a:prstGeom>
          <a:solidFill>
            <a:srgbClr val="D66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9281160" y="1819656"/>
            <a:ext cx="347472" cy="256032"/>
          </a:xfrm>
          <a:prstGeom prst="rightArrow">
            <a:avLst/>
          </a:prstGeom>
          <a:solidFill>
            <a:srgbClr val="AAB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720072" y="1572768"/>
            <a:ext cx="141732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30" b="0">
                <a:solidFill>
                  <a:srgbClr val="232B37"/>
                </a:solidFill>
                <a:latin typeface="Aptos"/>
              </a:rPr>
              <a:t>4. Post-test
Same measures + confidence battery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20072" y="1572768"/>
            <a:ext cx="1417320" cy="73152"/>
          </a:xfrm>
          <a:prstGeom prst="rect">
            <a:avLst/>
          </a:prstGeom>
          <a:solidFill>
            <a:srgbClr val="2E7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822191" y="2761488"/>
            <a:ext cx="379476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005072" y="2907792"/>
            <a:ext cx="1600200" cy="292608"/>
          </a:xfrm>
          <a:prstGeom prst="roundRect">
            <a:avLst/>
          </a:prstGeom>
          <a:solidFill>
            <a:srgbClr val="162D4C"/>
          </a:solidFill>
          <a:ln w="12700">
            <a:solidFill>
              <a:srgbClr val="162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TREATMENT MECHANISM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77639" y="3310128"/>
            <a:ext cx="3310128" cy="96012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232B37"/>
                </a:solidFill>
                <a:latin typeface="Aptos"/>
              </a:defRPr>
            </a:pPr>
            <a:r>
              <a:t>Scenario 1: ethical, non-substitutive AI use</a:t>
            </a:r>
          </a:p>
          <a:p>
            <a:pPr>
              <a:spcAft>
                <a:spcPts val="500"/>
              </a:spcAft>
              <a:defRPr sz="1220">
                <a:solidFill>
                  <a:srgbClr val="232B37"/>
                </a:solidFill>
                <a:latin typeface="Aptos"/>
              </a:defRPr>
            </a:pPr>
            <a:r>
              <a:t>Scenario 2: iterating a weak AI response</a:t>
            </a:r>
          </a:p>
          <a:p>
            <a:pPr>
              <a:spcAft>
                <a:spcPts val="500"/>
              </a:spcAft>
              <a:defRPr sz="1220">
                <a:solidFill>
                  <a:srgbClr val="232B37"/>
                </a:solidFill>
                <a:latin typeface="Aptos"/>
              </a:defRPr>
            </a:pPr>
            <a:r>
              <a:t>Scenario 3: detecting and correcting hallucinations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45552" y="868680"/>
            <a:ext cx="3950208" cy="3630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28431" y="1024128"/>
            <a:ext cx="1737360" cy="292608"/>
          </a:xfrm>
          <a:prstGeom prst="roundRect">
            <a:avLst/>
          </a:prstGeom>
          <a:solidFill>
            <a:srgbClr val="2E7D5F"/>
          </a:solidFill>
          <a:ln w="12700">
            <a:solidFill>
              <a:srgbClr val="2E7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WHAT RESULTS CAN SHOW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28431" y="1417320"/>
            <a:ext cx="3456432" cy="4114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62D4C"/>
                </a:solidFill>
                <a:latin typeface="Aptos"/>
              </a:rPr>
              <a:t>Primary outcome slots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28431" y="1810512"/>
            <a:ext cx="3474720" cy="1298448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32B37"/>
                </a:solidFill>
                <a:latin typeface="Aptos"/>
              </a:defRPr>
            </a:pPr>
            <a:r>
              <a:t>Δ post-pre assessment score: Treatment − Control = ____</a:t>
            </a:r>
          </a:p>
          <a:p>
            <a:pPr>
              <a:spcAft>
                <a:spcPts val="500"/>
              </a:spcAft>
              <a:defRPr sz="1200">
                <a:solidFill>
                  <a:srgbClr val="232B37"/>
                </a:solidFill>
                <a:latin typeface="Aptos"/>
              </a:defRPr>
            </a:pPr>
            <a:r>
              <a:t>Hallucination detection gain: Treatment − Control = ____</a:t>
            </a:r>
          </a:p>
          <a:p>
            <a:pPr>
              <a:spcAft>
                <a:spcPts val="500"/>
              </a:spcAft>
              <a:defRPr sz="1200">
                <a:solidFill>
                  <a:srgbClr val="232B37"/>
                </a:solidFill>
                <a:latin typeface="Aptos"/>
              </a:defRPr>
            </a:pPr>
            <a:r>
              <a:t>Prompt-quality rubric gain across six dimensions = ____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28431" y="3172968"/>
            <a:ext cx="3456432" cy="310896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2D4C"/>
                </a:solidFill>
                <a:latin typeface="Aptos"/>
              </a:rPr>
              <a:t>Behavioral evidence from the writing task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28431" y="3493008"/>
            <a:ext cx="3474720" cy="749808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500"/>
              </a:spcAft>
              <a:defRPr sz="1160">
                <a:solidFill>
                  <a:srgbClr val="232B37"/>
                </a:solidFill>
                <a:latin typeface="Aptos"/>
              </a:defRPr>
            </a:pPr>
            <a:r>
              <a:t>CRAFT drafts, revisions, reflections</a:t>
            </a:r>
          </a:p>
          <a:p>
            <a:pPr>
              <a:spcAft>
                <a:spcPts val="500"/>
              </a:spcAft>
              <a:defRPr sz="1160">
                <a:solidFill>
                  <a:srgbClr val="232B37"/>
                </a:solidFill>
                <a:latin typeface="Aptos"/>
              </a:defRPr>
            </a:pPr>
            <a:r>
              <a:t>AI-chat traces and prompt-bank use</a:t>
            </a:r>
          </a:p>
          <a:p>
            <a:pPr>
              <a:spcAft>
                <a:spcPts val="500"/>
              </a:spcAft>
              <a:defRPr sz="1160">
                <a:solidFill>
                  <a:srgbClr val="232B37"/>
                </a:solidFill>
                <a:latin typeface="Aptos"/>
              </a:defRPr>
            </a:pPr>
            <a:r>
              <a:t>Optional arm-level patterns across A/B/C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" y="5074920"/>
            <a:ext cx="11384280" cy="1115568"/>
          </a:xfrm>
          <a:prstGeom prst="roundRect">
            <a:avLst/>
          </a:prstGeom>
          <a:solidFill>
            <a:srgbClr val="E7F0FC"/>
          </a:solidFill>
          <a:ln w="12700">
            <a:solidFill>
              <a:srgbClr val="B7C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5294376"/>
            <a:ext cx="1417320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E66A6"/>
                </a:solidFill>
                <a:latin typeface="Aptos"/>
              </a:rPr>
              <a:t>Inference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5285232"/>
            <a:ext cx="9281160" cy="4114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62D4C"/>
                </a:solidFill>
                <a:latin typeface="Aptos"/>
              </a:rPr>
              <a:t>If treatment students improve more from pre-test to post-test and show stronger revision/verification behavior, the study supports the claim that structured prompt-engineering instruction improves responsible AI use in academic writing.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806440"/>
            <a:ext cx="9281160" cy="219456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/>
            <a:r>
              <a:rPr sz="1030" b="0">
                <a:solidFill>
                  <a:srgbClr val="5E6773"/>
                </a:solidFill>
                <a:latin typeface="Aptos"/>
              </a:rPr>
              <a:t>Note: actual numerical findings require exported/analyzed Supabase study_results data; this slide preserves editable placeholders until final statistics are available.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" y="6473952"/>
            <a:ext cx="11292840" cy="21031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707A89"/>
                </a:solidFill>
                <a:latin typeface="Aptos"/>
              </a:rPr>
              <a:t>Implementation sources: README.md · components/PromptStudy.tsx · lib/studyArms.ts · lib/moduleScenarios.ts · lib/moduleAssessment.ts · supabase/study_results.sql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