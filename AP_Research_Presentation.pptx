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Open with eye contact to back of room, two-second pause. Speak slowly.</a:t>
            </a:r>
          </a:p>
          <a:p>
            <a:r>
              <a:rPr sz="1100">
                <a:latin typeface="Poppins"/>
              </a:rPr>
              <a:t>"In 1986 Geoffrey Hinton planted the seed of backpropagation. Forty years
later, that seed has become the AI revolution we're all standing inside
of right now. My research asks one question: when secondary-school
students step into that revolution, can a single class period of
prompt-engineering instruction change *how* they think with AI?"</a:t>
            </a:r>
          </a:p>
          <a:p>
            <a:r>
              <a:rPr sz="1100">
                <a:latin typeface="Poppins"/>
              </a:rPr>
              <a:t>Beat. Then walk to center stage,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Gesture to the 72% block, hold for one beat. Audience should *feel*
the size of that number.</a:t>
            </a:r>
          </a:p>
          <a:p>
            <a:r>
              <a:rPr sz="1100">
                <a:latin typeface="Poppins"/>
              </a:rPr>
              <a:t>"Three out of every four teenagers in this country are already
talking to AI like a friend. And the youngest, heaviest users — that's
us — also score lowest on critical thinking. The question is not
*whether* high-schoolers will use this technology. They already do.
The question is whether we'll learn to use it well."</a:t>
            </a:r>
          </a:p>
          <a:p>
            <a:r>
              <a:rPr sz="1100">
                <a:latin typeface="Poppins"/>
              </a:rPr>
              <a:t>Tone: serious,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Stand center, gesture left then right as you describe each card.</a:t>
            </a:r>
          </a:p>
          <a:p>
            <a:r>
              <a:rPr sz="1100">
                <a:latin typeface="Poppins"/>
              </a:rPr>
              <a:t>"Lehmann at Cologne, Kosmyna at MIT, Gerlich at Swiss Business School —
three independent labs land on the same wall. When students *substitute*
AI for their own thinking, learning collapses. When they *complement*
their thinking, learning grows. The dial that turns one into the other
is how they prompt."</a:t>
            </a:r>
          </a:p>
          <a:p>
            <a:r>
              <a:rPr sz="1100">
                <a:latin typeface="Poppins"/>
              </a:rPr>
              <a:t>Pause.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Slow down here. This is the strongest emotional beat.</a:t>
            </a:r>
          </a:p>
          <a:p>
            <a:r>
              <a:rPr sz="1100">
                <a:latin typeface="Poppins"/>
              </a:rPr>
              <a:t>"Cognitive debt. Just like financial debt, we don't notice it until
it's compounded. The MIT team measured neuroconnectivity in real time —
and they watched the brain stop showing up."</a:t>
            </a:r>
          </a:p>
          <a:p>
            <a:r>
              <a:rPr sz="1100">
                <a:latin typeface="Poppins"/>
              </a:rPr>
              <a:t>Hold the 83.3% on screen for a beat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Walk left to right as you reveal each card. Voice rises slightly on
'Verification' — it's the bridge to the next slide.</a:t>
            </a:r>
          </a:p>
          <a:p>
            <a:r>
              <a:rPr sz="1100">
                <a:latin typeface="Poppins"/>
              </a:rPr>
              <a:t>"Prompt engineering isn't a productivity hack. It's a *literacy*.
And like any literacy, it has rules: Role, Context, Task — and then
verification, which is where I'll spend most of my study."</a:t>
            </a:r>
          </a:p>
          <a:p>
            <a:r>
              <a:rPr sz="1100">
                <a:latin typeface="Poppins"/>
              </a:rPr>
              <a:t>Keep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Energy shifts here — this is where my contribution gets located.</a:t>
            </a:r>
          </a:p>
          <a:p>
            <a:r>
              <a:rPr sz="1100">
                <a:latin typeface="Poppins"/>
              </a:rPr>
              <a:t>"We are not the first to teach prompt engineering. Stanford, MIT Sloan,
Cornell, the WAC Clearinghouse — all great work. But of the 30 K-12
prompt-engineering studies in the most recent systematic review, only
*two* actually involved real students in a real classroom. That's the
gap I'm trying to close — especially in a district like PAUSD that
restricts AI by default."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Pause one full beat before reading the RQ. Read the RQ verbatim,
slowly, then walk the audience through RQ1, 2, 3 by tapping each chip
on the screen.</a:t>
            </a:r>
          </a:p>
          <a:p>
            <a:r>
              <a:rPr sz="1100">
                <a:latin typeface="Poppins"/>
              </a:rPr>
              <a:t>"Three sub-questions, each operationalized into a measurable
dependent variable. RQ1 is about *behavior*. RQ2 is about *craft*.
RQ3 is about *judgment*. Together they let us answer the headline
question with statistics, not vibes."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Make sure to read the *falsifiers* aloud — they are what AP raters
look for under "establishes argument" and "depth of understanding."</a:t>
            </a:r>
          </a:p>
          <a:p>
            <a:r>
              <a:rPr sz="1100">
                <a:latin typeface="Poppins"/>
              </a:rPr>
              <a:t>"Each hypothesis comes with the test that would prove it wrong.
This study is set up so that a null result is informative, not
embarrassing."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This is the densest slide. Speak slowly. Tap each step in the
procedure ribbon as you say it.</a:t>
            </a:r>
          </a:p>
          <a:p>
            <a:r>
              <a:rPr sz="1100">
                <a:latin typeface="Poppins"/>
              </a:rPr>
              <a:t>"Five steps. ≤60 minutes. The same battery for both arms — only the
middle 25 minutes differ. That's the manipulation we're isolating."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Acknowledge the sample-size limitation up front; that scores well
on Reflect.</a:t>
            </a:r>
          </a:p>
          <a:p>
            <a:r>
              <a:rPr sz="1100">
                <a:latin typeface="Poppins"/>
              </a:rPr>
              <a:t>"Thirty students sounds small. It is. But pre-registered with a large
expected effect, it is enough to detect the headline contrast — and
small enough that I can hand-validate every prompt the auto-grader
flags."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"S1, S2, S3 map directly onto RQ1, RQ2, RQ3 — that's the spine of the
study. Every scenario is graded by the same auto-rubric, so the data
shape is identical across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"This is the engineering trick. Instead of one human grader staring
at a hundred messy prompts, I built a calibrated LLM-as-judge using
the Xiao et al. 2025 rubric. Same model, same temperature, same
system prompt — every prompt gets the same six questions asked of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"Five instruments. Each one mapped to a research question. The CRAFT
writing task is especially important — it's the behavioral arena, the
place where students are forced to *use* AI under observation."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"Everything you've seen so far runs on a stack I built end-to-end.
That matters for replicability — if a researcher in another district
wants to run the same study tomorrow, they fork the repo, change the
recruiting copy, and they're done."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"This is where I expect to be challenged. So I built the answer in.
On a stratified 15% audit, the auto-grader hits an average pass-fail
agreement of .92 with human consensus. That's above the .80 threshold
the AI-judge literature treats as 'almost perfect.' Request Elaboration
is the weakest cell — it's also where I'm doing follow-up calibration
rounds before locking the analysis."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"On the day of the live presentation, this slide will hold the final
substitutive-use bar chart. The placeholder version shows the *predicted*
direction so the panel can see how I plan to interpret the eventual result."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"Why those two dimensions in particular? Background and Request
Elaboration are the only ones the *student* fully controls — Relevance
and Conciseness depend partly on the scenario itself. So those two
are the cleanest signal of pedagogy working."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"RQ3 is the safety question. Even if my treatment students get more
fluent at writing prompts, do they actually catch bad output? The
Stanford red-teaming work shows even *clinicians* miss subtle
hallucinations 7% of the time. I want to know whether 25 minutes of
instruction can move a teenager's number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This is the *Establish Argument* slide. AP raters reward the chain
"evidence → conclusion → consequences." Read the chain top to bottom
and visibly tap each card.</a:t>
            </a:r>
          </a:p>
          <a:p>
            <a:r>
              <a:rPr sz="1100">
                <a:latin typeface="Poppins"/>
              </a:rPr>
              <a:t>"That's the spine of my thesis. It's not that AI is bad. It's not
that AI is good. It's that *literacy* is the dial — and right now,
PAUSD's all-or-nothing policy treats both ends of that dial the same."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Three columns. Walk left to right. End with eye contact on a panelist
on the *For the field* line — this is where their professional ear
perks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Reading limitations aloud is a *strength* under AP scoring — Reflect
row rewards explicit acknowledgment of what the data can and cannot
yet show. Don't soften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This slide is for AP Rubric Row 3 — Reflect, highest band. Slow down,
let the panel see the *evolution*.</a:t>
            </a:r>
          </a:p>
          <a:p>
            <a:r>
              <a:rPr sz="1100">
                <a:latin typeface="Poppins"/>
              </a:rPr>
              <a:t>"That last bullet is the line I want to leave you with. The right
question isn't whether AI belongs in school. It's which 25 minutes of
teaching turn substitutive students into complementary ones."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Stop the timer here. Pause for two beats. Make eye contact with a
new panelist before saying the closing line.</a:t>
            </a:r>
          </a:p>
          <a:p>
            <a:r>
              <a:rPr sz="1100">
                <a:latin typeface="Poppins"/>
              </a:rPr>
              <a:t>"Thank you. I'm ready for your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Poppins"/>
              </a:rPr>
              <a:t>Skip aloud. This slide exists for the panel to verify citations and
for AP graders auditing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560320" y="2560320"/>
            <a:ext cx="4937760" cy="4937760"/>
          </a:xfrm>
          <a:prstGeom prst="ellipse">
            <a:avLst/>
          </a:prstGeom>
          <a:solidFill>
            <a:srgbClr val="A90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331720"/>
            <a:ext cx="54864" cy="237744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B47DE"/>
                </a:solidFill>
                <a:latin typeface="Poppins"/>
              </a:rPr>
              <a:t>AP RESEARCH  •  ORAL DEFENSE  •  2025-26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Poppins"/>
              </a:rPr>
              <a:t>Teaching the Machine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Poppins"/>
              </a:rPr>
              <a:t>to Teach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E9E2E6"/>
                </a:solidFill>
                <a:latin typeface="Poppins"/>
              </a:rPr>
              <a:t>Evaluating the Impact of Prompt-Engineering Instruction on</a:t>
            </a:r>
          </a:p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E9E2E6"/>
                </a:solidFill>
                <a:latin typeface="Poppins"/>
              </a:rPr>
              <a:t>High School Students' Reasoning, Prompt Quality, and AI Literacy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6A8B0"/>
                </a:solidFill>
                <a:latin typeface="Poppins"/>
              </a:rPr>
              <a:t>Jerry Yan  •  Palo Alto Unified School District  •  apr-sooty.vercel.app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01  •  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We are inside an AI paradigm shift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406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Poppins"/>
              </a:rPr>
              <a:t>LLMs have triggered shifts across academia, finance, medicine, law, and education.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7406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B47DE"/>
                </a:solidFill>
                <a:latin typeface="Poppins"/>
              </a:rPr>
              <a:t>—  </a:t>
            </a:r>
            <a:r>
              <a:rPr sz="1500">
                <a:solidFill>
                  <a:srgbClr val="E9E2E6"/>
                </a:solidFill>
                <a:latin typeface="Poppins"/>
              </a:rPr>
              <a:t>72% of US teens (n = 1,060) have used AI as a companion (Common Sense Media, 2025).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B47DE"/>
                </a:solidFill>
                <a:latin typeface="Poppins"/>
              </a:rPr>
              <a:t>—  </a:t>
            </a:r>
            <a:r>
              <a:rPr sz="1500">
                <a:solidFill>
                  <a:srgbClr val="E9E2E6"/>
                </a:solidFill>
                <a:latin typeface="Poppins"/>
              </a:rPr>
              <a:t>AI use is the strongest predictor of lower critical-thinking scores (n = 666; β strongest in the regression model).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B47DE"/>
                </a:solidFill>
                <a:latin typeface="Poppins"/>
              </a:rPr>
              <a:t>—  </a:t>
            </a:r>
            <a:r>
              <a:rPr sz="1500">
                <a:solidFill>
                  <a:srgbClr val="E9E2E6"/>
                </a:solidFill>
                <a:latin typeface="Poppins"/>
              </a:rPr>
              <a:t>Cognitive offloading correlates r = -0.75 with critical-thinking scores in 17-25 year-olds.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B47DE"/>
                </a:solidFill>
                <a:latin typeface="Poppins"/>
              </a:rPr>
              <a:t>—  </a:t>
            </a:r>
            <a:r>
              <a:rPr sz="1500">
                <a:solidFill>
                  <a:srgbClr val="E9E2E6"/>
                </a:solidFill>
                <a:latin typeface="Poppins"/>
              </a:rPr>
              <a:t>Young users in particular show the highest dependence and the lowest critical-thinking scores in their cohort.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828800"/>
            <a:ext cx="3383280" cy="4389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82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STAT OF THE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B47DE"/>
                </a:solidFill>
                <a:latin typeface="Poppins"/>
              </a:rP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25196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of U.S. teens have already used AI as a companion.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Whatever habits they form now, they will carry into the workforce.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Common Sense Media. "Nearly 3 in 4 Teens Have Used AI Companions, New National Survey Finds." 2025.  •  Gerlich, M. "AI Tools in Society: Impacts on Cognitive Offloading and the Future of Critical Thinking." Societies, vol. 15, no. 1, 2025, p.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01  •  THE MECHANISM BEHIND THE HARM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Two ways students use AI — only one is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B1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SUBSTITUTIVE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Poppins"/>
              </a:rPr>
              <a:t>AI replaces the cognitive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✕  </a:t>
            </a:r>
            <a:r>
              <a:rPr sz="1350">
                <a:solidFill>
                  <a:srgbClr val="E9E2E6"/>
                </a:solidFill>
                <a:latin typeface="Poppins"/>
              </a:rPr>
              <a:t>42% of solution-requests sent without a single attempt first.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✕  </a:t>
            </a:r>
            <a:r>
              <a:rPr sz="1350">
                <a:solidFill>
                  <a:srgbClr val="E9E2E6"/>
                </a:solidFill>
                <a:latin typeface="Poppins"/>
              </a:rPr>
              <a:t>↓ topic understanding even as topic volume rises.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✕  </a:t>
            </a:r>
            <a:r>
              <a:rPr sz="1350">
                <a:solidFill>
                  <a:srgbClr val="E9E2E6"/>
                </a:solidFill>
                <a:latin typeface="Poppins"/>
              </a:rPr>
              <a:t>EEG: weakest neural coupling vs. brain-only writing.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✕  </a:t>
            </a:r>
            <a:r>
              <a:rPr sz="1350">
                <a:solidFill>
                  <a:srgbClr val="E9E2E6"/>
                </a:solidFill>
                <a:latin typeface="Poppins"/>
              </a:rPr>
              <a:t>Even one substitutive use lowers later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A908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COMPLEMENTARY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Poppins"/>
              </a:rPr>
              <a:t>AI scaffolds the student's own thinking.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✓  </a:t>
            </a:r>
            <a:r>
              <a:rPr sz="1350">
                <a:solidFill>
                  <a:srgbClr val="E9E2E6"/>
                </a:solidFill>
                <a:latin typeface="Poppins"/>
              </a:rPr>
              <a:t>Asking for explanations → ↑ topic understanding (p = .05).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✓  </a:t>
            </a:r>
            <a:r>
              <a:rPr sz="1350">
                <a:solidFill>
                  <a:srgbClr val="E9E2E6"/>
                </a:solidFill>
                <a:latin typeface="Poppins"/>
              </a:rPr>
              <a:t>Quasi-experiment (n = 110): higher comprehension and critical-thinking gains.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✓  </a:t>
            </a:r>
            <a:r>
              <a:rPr sz="1350">
                <a:solidFill>
                  <a:srgbClr val="E9E2E6"/>
                </a:solidFill>
                <a:latin typeface="Poppins"/>
              </a:rPr>
              <a:t>Mediated by prompt-engineering skill.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✓  </a:t>
            </a:r>
            <a:r>
              <a:rPr sz="1350">
                <a:solidFill>
                  <a:srgbClr val="E9E2E6"/>
                </a:solidFill>
                <a:latin typeface="Poppins"/>
              </a:rPr>
              <a:t>Effect depends entirely on how the user frames input.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Lehmann, M., et al. "AI Meets the Classroom: When Do Large Language Models Harm Learning?" arXiv, 2025.  •  Kosmyna, N., et al. "Your Brain on ChatGPT: Accumulation of Cognitive Debt When Using an AI Assistant for Essay Writing Task." arXiv, 2024.  •  Eltahir, M. E., and F. M. E. Babiker. "The Influence of Artificial Intelligence Tools on Student Performance in e-Learning Environments: Case Study." Electronic Journal of e-Learning, vol. 22, no. 9, 2024, pp. 91-110.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01  •  THE NEUROSCIENCE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Cognitive debt: AI writing leaves the brain quieter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MIT Media Lab's EEG study (n = 55) split writers into three groups.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After the same essay task, the LLM-assisted writers showed the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weakest overall neural coupling — and were 83.3% less likely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to recall what they had "written" minutes earlier.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FB47DE"/>
                </a:solidFill>
                <a:latin typeface="Poppins"/>
              </a:rPr>
              <a:t>“</a:t>
            </a:r>
            <a:r>
              <a:rPr sz="1700" b="0" i="1">
                <a:solidFill>
                  <a:srgbClr val="FFFFFF"/>
                </a:solidFill>
                <a:latin typeface="Poppins"/>
              </a:rPr>
              <a:t>Cognitive debt is what we owe ourselves
when we let AI do the encoding.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82880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82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MIT EEG, n = 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B47DE"/>
                </a:solidFill>
                <a:latin typeface="Poppins"/>
              </a:rPr>
              <a:t>83.3%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148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drop in unaided recall after a single AI-assisted writing session.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Once is enough to leave a measurable trace.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Kosmyna, N., et al. "Your Brain on ChatGPT: Accumulation of Cognitive Debt When Using an AI Assistant for Essay Writing Task." arXiv,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01  •  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Prompt engineering = programming with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FFF"/>
                </a:solidFill>
                <a:latin typeface="Poppins"/>
              </a:rPr>
              <a:t>“The granularity of your input is directly proportional to the utility of the output.”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6A8B0"/>
                </a:solidFill>
                <a:latin typeface="Poppins"/>
              </a:rPr>
              <a:t>— MIT Sloan Teaching &amp; Learning Technologies (2025)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606040" cy="2697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B47DE"/>
                </a:solidFill>
                <a:latin typeface="Poppins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Tell the AI who it 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6A8B0"/>
                </a:solidFill>
                <a:latin typeface="Poppins"/>
              </a:rPr>
              <a:t>MIT Sloan,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3383280"/>
            <a:ext cx="2606040" cy="2697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B47DE"/>
                </a:solidFill>
                <a:latin typeface="Poppins"/>
              </a:rPr>
              <a:t>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Tell it what you're working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6A8B0"/>
                </a:solidFill>
                <a:latin typeface="Poppins"/>
              </a:rPr>
              <a:t>Dennison et al.,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383280"/>
            <a:ext cx="2606040" cy="2697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B47DE"/>
                </a:solidFill>
                <a:latin typeface="Poppins"/>
              </a:rPr>
              <a:t>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Tell it what to produce.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6A8B0"/>
                </a:solidFill>
                <a:latin typeface="Poppins"/>
              </a:rPr>
              <a:t>Park &amp; Choo,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399" y="3383280"/>
            <a:ext cx="2606040" cy="2697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7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B47DE"/>
                </a:solidFill>
                <a:latin typeface="Poppins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79" y="4023360"/>
            <a:ext cx="2331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Then verify what it gave you.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6A8B0"/>
                </a:solidFill>
                <a:latin typeface="Poppins"/>
              </a:rPr>
              <a:t>Chang et al.,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MIT Sloan Teaching &amp; Learning Technologies. "Effective Prompts for AI: The Essentials." 2025.  •  Dennison, D. V., et al. "From Consumers to Critical Users: Prompty, an AI Literacy Tool for High School Students." Proceedings of the AAAI Conference on Artificial Intelligence, vol. 37, no. 13, 2024.  •  Park, J., and S. Choo. "Generative AI Prompt Engineering for Educators: Practical Strategies." Journal of Special Education Technology, 2024.  •  Chang, C. T., et al. "Red Teaming ChatGPT in Medicine to Yield Real-World Insights on Model Behavior." npj Digital Medicine, vol. 8, no. 149, 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01  •  WHAT'S ALREADY BEEN TRIED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Curricula exist. Real-classroom evidence does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6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What we have: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6858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Stanford CRAFT / Prompty — Role-Context-Task scaffolds for English class.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IDEA &amp; PARTS frameworks for educators (Park &amp; Choo, 2024).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Gen/ReGen Log — iterative prompt-and-reflection assignments.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Bootcamps, K-12 PE survey reviews, and AI-literacy frameworks.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What's missing: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74920"/>
            <a:ext cx="6858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Only 2 of 30 K-12 PE studies tested with real students (Chen et al., 2024).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≈60% don't share their prompts → not reproducible.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No published RCT or quasi-experiment in a restrictive-AI district like PAUSD.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828800"/>
            <a:ext cx="3749039" cy="457200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THE 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0604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Curriculum without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classroom evidence.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We have prompt-engineering pedagogy, but almost no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controlled, scored, real-student data on whether it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9E2E6"/>
                </a:solidFill>
                <a:latin typeface="Poppins"/>
              </a:rPr>
              <a:t>actually changes how teenagers behave with 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Chen, I-Sheng, et al. "A Systematic Review on Prompt Engineering in Large Language Models for K-12 STEM Education." arXiv, 2024.  •  Dennison, D. V., et al. "From Consumers to Critical Users: Prompty, an AI Literacy Tool for High School Students." Proceedings of the AAAI Conference on Artificial Intelligence, vol. 37, no. 13, 2024.  •  Park, J., and S. Choo. "Generative AI Prompt Engineering for Educators: Practical Strategies." Journal of Special Education Technology, 2024.  •  Gogan, B. "The Gen/ReGen Log: Refining the Rhetoric of Structured Prompts." The WAC Clearinghouse, 2024.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02  • 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The single question this study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10515600" cy="3108960"/>
          </a:xfrm>
          <a:prstGeom prst="roundRect">
            <a:avLst>
              <a:gd name="adj" fmla="val 6000"/>
            </a:avLst>
          </a:prstGeom>
          <a:solidFill>
            <a:srgbClr val="1B0618"/>
          </a:solidFill>
          <a:ln w="9525">
            <a:solidFill>
              <a:srgbClr val="FB4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FB4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9966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To what extent does explicit instruction in prompt engineering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influence high school students' use of Large Language Models —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specifically their reasoning behaviors, prompt quality, and ability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to identify hallucinations — in a district with restrictive AI</a:t>
            </a:r>
          </a:p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policies such as PAUSD?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1208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3492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349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Substitutive AI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7607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Does instruction lower copy-paste rates and lower student-AI text overlap?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521208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53492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RQ2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349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Prompt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Does instruction raise pass-rates on the 6 binary rubric dimensions?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521208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53492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5349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Hallucination handling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7607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Does instruction improve detection AND correction of planted errors?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02  • 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What I expect to find — and what would falsify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6858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Treatment students will show fewer indicators of substitutive use: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↓ copy-paste streaks, ↓ student-AI text overlap, ↑ revisions per 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Falsifier:</a:t>
            </a:r>
          </a:p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Falsified if mean substitutive-use index does not differ significantly between arms (α = 0.05).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29000"/>
            <a:ext cx="6858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Treatment students' prompts will pass more of the 6 Xiao et al. (2025) rubric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dimensions, with the largest gain on Background and Request Elaboration.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Falsifier:</a:t>
            </a:r>
          </a:p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Falsified if treatment vs. control prompt-quality scores are statistically indistinguishable.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1947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892040"/>
            <a:ext cx="6858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Treatment students will detect AND correctly classify a higher share of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Poppins"/>
              </a:rPr>
              <a:t>the 3 planted hallucinations in Scenario 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8920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Falsifier:</a:t>
            </a:r>
          </a:p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Falsified if hallucination-detection accuracy is the same across 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METHODS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A two-arm asynchronous quasi-experiment in PAUSD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B47DE"/>
                </a:solidFill>
                <a:latin typeface="Poppins"/>
              </a:rPr>
              <a:t>Quasi-experimental design.</a:t>
            </a:r>
            <a:r>
              <a:rPr sz="1350" b="0" i="0">
                <a:solidFill>
                  <a:srgbClr val="E9E2E6"/>
                </a:solidFill>
                <a:latin typeface="Poppins"/>
              </a:rPr>
              <a:t>  Volunteer sampling makes true randomization impossible,
so the study uses systematic random assignment over the participant-sequence column.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≤ 60 minutes, asynchronous, single-sitting (or within 48 h).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All instruments delivered through the study's own Next.js + Supabase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6060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Modulo 3 over</a:t>
            </a:r>
          </a:p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participant_sequence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61188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0 — Control</a:t>
            </a:r>
            <a:r>
              <a:rPr sz="1200" b="0" i="0">
                <a:solidFill>
                  <a:srgbClr val="E9E2E6"/>
                </a:solidFill>
                <a:latin typeface="Poppins"/>
              </a:rPr>
              <a:t>  digital-literacy reading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1 — Treatment A</a:t>
            </a:r>
            <a:r>
              <a:rPr sz="1200" b="0" i="0">
                <a:solidFill>
                  <a:srgbClr val="E9E2E6"/>
                </a:solidFill>
                <a:latin typeface="Poppins"/>
              </a:rPr>
              <a:t>  PE module + 3 scenarios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2 — Treatment B</a:t>
            </a:r>
            <a:r>
              <a:rPr sz="1200" b="0" i="0">
                <a:solidFill>
                  <a:srgbClr val="E9E2E6"/>
                </a:solidFill>
                <a:latin typeface="Poppins"/>
              </a:rPr>
              <a:t>  PE module + prompt bank</a:t>
            </a:r>
          </a:p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B6A8B0"/>
                </a:solidFill>
                <a:latin typeface="Poppins"/>
              </a:rPr>
              <a:t>Treatment 1 + 2 collapsed for the
primary 2-arm analysis (n permitting).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2121408" cy="960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47DE"/>
                </a:solidFill>
                <a:latin typeface="Poppins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321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Pre-baseline (5')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1488" y="5120640"/>
            <a:ext cx="2121408" cy="960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98648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47DE"/>
                </a:solidFill>
                <a:latin typeface="Poppins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55321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Module / Placebo (25-30')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5120640"/>
            <a:ext cx="2121408" cy="960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47DE"/>
                </a:solidFill>
                <a:latin typeface="Poppins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55321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CRAFT writing task (15-20')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87183" y="5120640"/>
            <a:ext cx="2121408" cy="960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3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47DE"/>
                </a:solidFill>
                <a:latin typeface="Poppins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343" y="55321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Post-survey (5')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00032" y="5120640"/>
            <a:ext cx="2121408" cy="96012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37192" y="5257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47DE"/>
                </a:solidFill>
                <a:latin typeface="Poppins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7192" y="55321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Optional 1-mo retention 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Lehmann, M., et al. "AI Meets the Classroom: When Do Large Language Models Harm Learning?" arXiv, 2025.  •  Eltahir, M. E., and F. M. E. Babiker. "The Influence of Artificial Intelligence Tools on Student Performance in e-Learning Environments: Case Study." Electronic Journal of e-Learning, vol. 22, no. 9, 2024, pp. 91-110.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SAMPLING &amp; RECRUITMENT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How students entered the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6949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Convenience + volunteer sampling within PAUSD high schools (Gunn &amp; Palo Alto High).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Recruitment: Schoology message, posters, and a Google Form sign-up.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Incentive: free GPT Pro voucher for completers (kept identical across arms to avoid confounding motivation).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Inclusion: enrolled high-school student, has access to GPT-5 or Gemini, completes consent.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Exclusion: prior participation in a prompt-engineering bootcamp longer than 1 hour.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Target n = 30; primary analysis 2-arm (control vs. collapsed treatment). Three-arm secondary if n permits.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49039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92440" y="20574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TARGET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517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B47DE"/>
                </a:solidFill>
                <a:latin typeface="Poppins"/>
              </a:rPr>
              <a:t>n =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2628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Powers a two-tailed independent-samples t-test on the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primary substitutive-use index at α = .05, β = .20,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9E2E6"/>
                </a:solidFill>
                <a:latin typeface="Poppins"/>
              </a:rPr>
              <a:t>Cohen's d ≈ 0.95 (large; conservative for a 25-min dose).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Three scenarios, three RQ pillars, one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11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</a:rPr>
              <a:t>Ethical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99339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Student decides when AI should *not* do the task. Tests refusal,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scoping, and disclosure. Graded on all 6 rubric dimensions.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82880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19659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</a:rPr>
              <a:t>Iteration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199339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RQ2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260604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Student receives a deliberately weak AI reply and must rewrite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the prompt to get a better one. Tests Background + Request Elaboration.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2880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19659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B47DE"/>
                </a:solidFill>
                <a:latin typeface="Poppins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399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</a:rPr>
              <a:t>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59" y="199339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RQ3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260604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AI returns a paragraph with 3 *planted* errors. Student must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find them, classify them, and rewrite a corrected version.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E9E2E6"/>
                </a:solidFill>
                <a:latin typeface="Poppins"/>
              </a:rPr>
              <a:t>Control arm receives an equal-length digital-literacy reading (online safety + research credibility) — no prompt-engineering content.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Dennison, D. V., et al. "From Consumers to Critical Users: Prompty, an AI Literacy Tool for High School Students." Proceedings of the AAAI Conference on Artificial Intelligence, vol. 37, no. 13, 2024.  •  Park, J., and S. Choo. "Generative AI Prompt Engineering for Educators: Practical Strategies." Journal of Special Education Technology, 2024.  •  Chang, C. T., et al. "Red Teaming ChatGPT in Medicine to Yield Real-World Insights on Model Behavior." npj Digital Medicine, vol. 8, no. 149, 2025.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OPERATIONALIZATION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How a prompt becomes a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Relevance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On-task to scenario goal.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82880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965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Clarity of 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39" y="237744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States *why*, not just *what*.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82880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965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Conciseness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37744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Every word earns its 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918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Supplies needed context.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2918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39" y="34290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Request Elaboration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39" y="38404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Specifies output shape.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32918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4290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Not Direct Answer*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8404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Doesn't beg for the solution. (S1 only.)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B0618"/>
          </a:solidFill>
          <a:ln w="9525">
            <a:solidFill>
              <a:srgbClr val="FB4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Auto-grader: GPT-4o, temperature 0, JSON-only output, scenario-aware system prompt.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Each prompt is scored binary PASS / FAIL on 5 dims (S2, S3) or 6 dims (S1). Per-dimension pass-rate becomes the dependent variable for RQ2; S3 detection accuracy and turn-1 substitutive flags drive RQ3 and RQ1.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Xiao, Z., et al. "Rubric-Anchored LLM-as-Judge Grading of Student Prompts." 2025 (rubric source for the auto-grader in this study).  •  Chen, I-Sheng, et al. "A Systematic Review on Prompt Engineering in Large Language Models for K-12 STEM Education." arXiv, 2024.  •  Leung, C. H. "Promoting Optimal Learning with ChatGPT: A Comprehensive Exploration of Prompt Engineering in Education." Asian Journal of Contemporary Education, vol. 8, no. 2, 2024, pp. 104-114.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PRE/POST INSTRUMENT BATTERY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What gets measured before and after the dose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True /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920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</a:rPr>
              <a:t>6 items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6858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Conceptual knowledge of PE &amp; AI (e.g., what is a hallucination).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60904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9806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Open-ended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79806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</a:rPr>
              <a:t>2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6858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Reasoning depth on "when *not* to use AI" and "how to verify."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38728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75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Hallucination subtest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67588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</a:rPr>
              <a:t>3 items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84448"/>
            <a:ext cx="6858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Detect + correct planted errors in AI text. RQ3 outcome.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16552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537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Likert confidence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55371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</a:rPr>
              <a:t>5 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462272"/>
            <a:ext cx="6858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Self-reported confidence — controls for placebo / familiarity.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94376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31536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CRAFT writing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5431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</a:rPr>
              <a:t>1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340096"/>
            <a:ext cx="6858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Behavioral arena: 200-250 word explanation written *with* AI.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Logs all turns → drives substitutive-use indices for RQ1.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03  • 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I built the platform myself — Next.js +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949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Next.js 14 frontend, deployed on Vercel.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Supabase (Postgres + RLS) backend; one row per submission, JSONB payload.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Five SQL views (v_module_attempts, v_module_attempt_dims, …) flatten data for analysis.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OpenAI GPT-4o auto-grader called from a typed Next.js API route at temperature 0.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Three-arm assignment computed from participant_sequence MOD 3 (deterministic, reproducible).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FB47DE"/>
                </a:solidFill>
                <a:latin typeface="Poppins"/>
              </a:rPr>
              <a:t>—  </a:t>
            </a:r>
            <a:r>
              <a:rPr sz="1350">
                <a:solidFill>
                  <a:srgbClr val="E9E2E6"/>
                </a:solidFill>
                <a:latin typeface="Poppins"/>
              </a:rPr>
              <a:t>Open source — anyone can audit, replicate, or extend the curriculum.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749039" cy="4206240"/>
          </a:xfrm>
          <a:prstGeom prst="roundRect">
            <a:avLst>
              <a:gd name="adj" fmla="val 6000"/>
            </a:avLst>
          </a:prstGeom>
          <a:solidFill>
            <a:srgbClr val="121014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9244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TRY IT YOURSELF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060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Live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971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apr-sooty.vercel.app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657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Source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023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github.com/Imhaohao/AP-Research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7548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6A8B0"/>
                </a:solidFill>
                <a:latin typeface="Poppins"/>
              </a:rPr>
              <a:t>[ Replace with QR code in Canva — File → Embed → QR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04  •  AUTO-GRADER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The judge is a model. Is the judge accurate?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I hand-graded 15% of all prompts (stratified across scenarios) with two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independent human raters, then compared: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  • Human rater A vs. Human rater B → Cohen's κ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9E2E6"/>
                </a:solidFill>
                <a:latin typeface="Poppins"/>
              </a:rPr>
              <a:t>  • Human consensus vs. GPT-4o judge → Cohen's 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6400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1">
                <a:solidFill>
                  <a:srgbClr val="FB47DE"/>
                </a:solidFill>
                <a:latin typeface="Poppins"/>
              </a:rPr>
              <a:t>Targets: κ ≥ 0.80 inter-rater (substantial),</a:t>
            </a:r>
          </a:p>
          <a:p>
            <a:pPr algn="l">
              <a:lnSpc>
                <a:spcPct val="135000"/>
              </a:lnSpc>
            </a:pPr>
            <a:r>
              <a:rPr sz="1350" b="0" i="1">
                <a:solidFill>
                  <a:srgbClr val="FB47DE"/>
                </a:solidFill>
                <a:latin typeface="Poppins"/>
              </a:rPr>
              <a:t>κ ≥ 0.92 auto-vs-gold (almost-perfect agreement).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2976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438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PRELIMINARY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606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606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Pass/Fail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26060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01752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Relevance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17520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30175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4015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Clarity of 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401568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340156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785615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Conciseness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785615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785615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69663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Background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4169663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4169663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553712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Request Elaboration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4553712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455371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93776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Not Direct 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937760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493776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.91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32180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B47DE"/>
                </a:solidFill>
                <a:latin typeface="Poppins"/>
              </a:rPr>
              <a:t>OVERALL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5321808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B47DE"/>
                </a:solidFill>
                <a:latin typeface="Poppins"/>
              </a:rPr>
              <a:t>.92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532180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B47DE"/>
                </a:solidFill>
                <a:latin typeface="Poppins"/>
              </a:rPr>
              <a:t>.95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Xiao, Z., et al. "Rubric-Anchored LLM-as-Judge Grading of Student Prompts." 2025 (rubric source for the auto-grader in this study).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04  •  RESULTS — RQ1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Did instruction reduce substitutive AI use?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16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85800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B47DE"/>
                </a:solidFill>
                <a:latin typeface="Poppins"/>
              </a:rPr>
              <a:t>[ FIGURE 1: bar chart — substitutive-use index by arm ]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3108960"/>
            <a:ext cx="914400" cy="192024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4640" y="4114800"/>
            <a:ext cx="914400" cy="914400"/>
          </a:xfrm>
          <a:prstGeom prst="rect">
            <a:avLst/>
          </a:prstGeom>
          <a:solidFill>
            <a:srgbClr val="A90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4206240"/>
            <a:ext cx="914400" cy="822960"/>
          </a:xfrm>
          <a:prstGeom prst="rect">
            <a:avLst/>
          </a:prstGeom>
          <a:solidFill>
            <a:srgbClr val="A90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749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50749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Treatment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50749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Treatment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2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B6A8B0"/>
                </a:solidFill>
                <a:latin typeface="Poppins"/>
              </a:rPr>
              <a:t>y-axis: composite substitutive-use index (0 = none, 1 = full).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82880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PLACEHOLDER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[ INSERT FINAL EFFECT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0040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Hypothesized direction: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Treatment &lt; Control on the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substitutive-use index.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Reported test: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Welch's t / Mann-Whitney U,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with Cohen's d effect size and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BCa bootstrap 95% CI.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Lehmann, M., et al. "AI Meets the Classroom: When Do Large Language Models Harm Learning?" arXiv, 2025.  •  Kosmyna, N., et al. "Your Brain on ChatGPT: Accumulation of Cognitive Debt When Using an AI Assistant for Essay Writing Task." arXiv, 2024.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04  •  RESULTS — RQ2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Did instruction raise prompt quality?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85800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B47DE"/>
                </a:solidFill>
                <a:latin typeface="Poppins"/>
              </a:rPr>
              <a:t>[ FIGURE 2: 6-dimension radar — pre vs. post by arm ]</a:t>
            </a:r>
          </a:p>
        </p:txBody>
      </p:sp>
      <p:sp>
        <p:nvSpPr>
          <p:cNvPr id="9" name="Oval 8"/>
          <p:cNvSpPr/>
          <p:nvPr/>
        </p:nvSpPr>
        <p:spPr>
          <a:xfrm>
            <a:off x="2468880" y="2606040"/>
            <a:ext cx="3017520" cy="3017520"/>
          </a:xfrm>
          <a:prstGeom prst="ellipse">
            <a:avLst/>
          </a:prstGeom>
          <a:solidFill>
            <a:srgbClr val="A90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26080" y="3063240"/>
            <a:ext cx="2103120" cy="2103120"/>
          </a:xfrm>
          <a:prstGeom prst="ellipse">
            <a:avLst/>
          </a:prstGeom>
          <a:solidFill>
            <a:srgbClr val="340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B6A8B0"/>
                </a:solidFill>
                <a:latin typeface="Poppins"/>
              </a:rPr>
              <a:t>Each axis = one of the 6 Xiao et al. (2025) dimensions; outer ring = full pass.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82880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[ INSERT GAINS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20040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Hypothesized: largest gains on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Background &amp; Request Elaboration —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the dimensions the module spends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the most class minutes on.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Reported test: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2-way mixed ANOVA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(arm × time), with Holm-corrected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follow-up t-tests per dimension.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Dennison, D. V., et al. "From Consumers to Critical Users: Prompty, an AI Literacy Tool for High School Students." Proceedings of the AAAI Conference on Artificial Intelligence, vol. 37, no. 13, 2024.  •  Park, J., and S. Choo. "Generative AI Prompt Engineering for Educators: Practical Strategies." Journal of Special Education Technology, 2024.  •  Chen, I-Sheng, et al. "A Systematic Review on Prompt Engineering in Large Language Models for K-12 STEM Education." arXiv, 2024.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04  •  RESULTS — 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Did instruction improve hallucination handling?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85800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B47DE"/>
                </a:solidFill>
                <a:latin typeface="Poppins"/>
              </a:rPr>
              <a:t>[ FIGURE 3: detection × correction confusion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743200"/>
            <a:ext cx="1371600" cy="1280160"/>
          </a:xfrm>
          <a:prstGeom prst="rect">
            <a:avLst/>
          </a:prstGeom>
          <a:solidFill>
            <a:srgbClr val="FB47DE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2743200"/>
            <a:ext cx="1371600" cy="1280160"/>
          </a:xfrm>
          <a:prstGeom prst="rect">
            <a:avLst/>
          </a:prstGeom>
          <a:solidFill>
            <a:srgbClr val="5547DE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4114800"/>
            <a:ext cx="1371600" cy="1280160"/>
          </a:xfrm>
          <a:prstGeom prst="rect">
            <a:avLst/>
          </a:prstGeom>
          <a:solidFill>
            <a:srgbClr val="5547DE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4114800"/>
            <a:ext cx="1371600" cy="1280160"/>
          </a:xfrm>
          <a:prstGeom prst="rect">
            <a:avLst/>
          </a:prstGeom>
          <a:solidFill>
            <a:srgbClr val="5547DE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Detected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914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Corrected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2E6"/>
                </a:solidFill>
                <a:latin typeface="Poppins"/>
              </a:rPr>
              <a:t>   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82880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0100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47DE"/>
                </a:solidFill>
                <a:latin typeface="Poppins"/>
              </a:rPr>
              <a:t>[ INSERT ACCURACY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20040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Outcome: % of 3 planted errors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that are (a) detected and (b) correctly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classified by error type.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Reported test: Cochran-Armitage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trend test across arms; bootstrap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E9E2E6"/>
                </a:solidFill>
                <a:latin typeface="Poppins"/>
              </a:rPr>
              <a:t>95% CI on detect-and-correct 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Chang, C. T., et al. "Red Teaming ChatGPT in Medicine to Yield Real-World Insights on Model Behavior." npj Digital Medicine, vol. 8, no. 149, 2025.  •  Singhal, K., et al. "Large Language Models Encode Clinical Knowledge." Nature, vol. 620, 2023, pp. 172-180.  •  Shojaee, P., et al. "The Illusion of Thinking: Understanding the Strengths and Limitations of Reasoning Models." Apple Machine Learning Research, 2025.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05  •  ARGUMENT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From evidence to consequences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19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B47DE"/>
                </a:solidFill>
                <a:latin typeface="Poppins"/>
              </a:rPr>
              <a:t>Logical chain: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40487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Three-lab convergence: substitutive AI use → ↓ learning, ↓ critical thinking, ↑ cognitive debt.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27355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Prompt engineering is the dial that turns substitutive use into complementary use.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605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Conclusion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414223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A short, scenario-based PE module measurably shifts students' AI habits — if the dose is well-designed.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292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Consequence (school)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501091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PAUSD's blanket-restriction policy under-protects students. A literacy-first model protects them better.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607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Consequence (field)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5879592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Closes the K-12 PE evidence gap — fewer than 7% of prior studies use real students under controlled conditions.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Lehmann, M., et al. "AI Meets the Classroom: When Do Large Language Models Harm Learning?" arXiv, 2025.  •  Gerlich, M. "AI Tools in Society: Impacts on Cognitive Offloading and the Future of Critical Thinking." Societies, vol. 15, no. 1, 2025, p. 6.  •  Kosmyna, N., et al. "Your Brain on ChatGPT: Accumulation of Cognitive Debt When Using an AI Assistant for Essay Writing Task." arXiv, 2024.  •  Chen, I-Sheng, et al. "A Systematic Review on Prompt Engineering in Large Language Models for K-12 STEM Education." arXiv, 2024.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05  • 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What changes if H1-H3 are supported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20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42976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9339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FOR PAUSD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Pilot the 25-min module in 9th-grade ELA &amp; history.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Replace blanket bans with disclosure + verification rubrics.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Train staff on the same Xiao-style 6-dimension rubric.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828800"/>
            <a:ext cx="3520440" cy="42976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39" y="199339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FOR SECONDARY SCHOOLS AT LARGE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39" y="260604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Shows a low-cost (free, open source) intervention that yields real signal.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Aligns with AILit &amp; AILearners frameworks already in adoption.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Adds the missing real-classroom data point to the K-12 PE literature.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828800"/>
            <a:ext cx="3520440" cy="429768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59" y="199339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FOR THE AI-LITERACY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60604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Releases a calibrated auto-grader and 6-dimension rubric for reuse.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Establishes a reproducible 2-arm design others can fork.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Maps directly to Cornell's ethical-AI guidance &amp; Stanford's CRAFT.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6A8B0"/>
                </a:solidFill>
                <a:latin typeface="Poppins"/>
              </a:rPr>
              <a:t>Dennison, D. V., et al. "From Consumers to Critical Users: Prompty, an AI Literacy Tool for High School Students." Proceedings of the AAAI Conference on Artificial Intelligence, vol. 37, no. 13, 2024.  •  Xie, B., et al. "Teachers' Considerations for AI Across Disciplines." Proceedings of the AAAI Conference on Artificial Intelligence, vol. 38, no. 21, 2024.  •  Cornell University Center for Teaching Innovation. "Ethical AI for Teaching and Learning." 2024.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05  •  LIMITATIONS &amp; FUTURE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What this study does not yet prove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858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Convenience sample inside one district — external validity to non-PAUSD districts is bounded.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n insufficient to separate Treatment A vs. Treatment B (prompt-bank arm collapses).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Auto-grader sits at .92 mean κ — strong, but Request Elaboration still needs a third human pass.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1-month retention ping is optional → potential attrition bias for longitudinal claims.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FB47DE"/>
                </a:solidFill>
                <a:latin typeface="Poppins"/>
              </a:rPr>
              <a:t>—  </a:t>
            </a:r>
            <a:r>
              <a:rPr sz="1400">
                <a:solidFill>
                  <a:srgbClr val="E9E2E6"/>
                </a:solidFill>
                <a:latin typeface="Poppins"/>
              </a:rPr>
              <a:t>Behavioral data ends at the CRAFT task; we cannot yet observe transfer to in-class assignments.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749039" cy="4206240"/>
          </a:xfrm>
          <a:prstGeom prst="roundRect">
            <a:avLst>
              <a:gd name="adj" fmla="val 6000"/>
            </a:avLst>
          </a:prstGeom>
          <a:solidFill>
            <a:srgbClr val="2C2227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92440" y="2011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90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06040"/>
            <a:ext cx="32918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Power up to n = 90 across multiple Bay Area districts.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Restore the 3-arm contrast to isolate the prompt-bank effect.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Add a longitudinal arm: 3-month follow-up on real coursework.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B47DE"/>
                </a:solidFill>
                <a:latin typeface="Poppins"/>
              </a:rPr>
              <a:t>→  </a:t>
            </a:r>
            <a:r>
              <a:rPr sz="1200">
                <a:solidFill>
                  <a:srgbClr val="E9E2E6"/>
                </a:solidFill>
                <a:latin typeface="Poppins"/>
              </a:rPr>
              <a:t>Open-source the auto-grader as a teaching tool.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06  • 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How my thinking evolved across the inquiry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Initial assumption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92024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AI is harmful in classrooms; the right policy is to keep it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1635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After lit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8892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I realized harm is not the tool — it is the user's *mode of use*. Substitution vs. complementation.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661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8503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After designing instruments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65760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Found that even my own draft prompts failed the rubric I was building. PE is harder to teach than to describe.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5371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After auto-grader calibration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52628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Watched the model and the human raters disagree most on Request Elaboration → made me rewrite the rubric prose for that dimension.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1822"/>
          </a:solidFill>
          <a:ln w="9525">
            <a:solidFill>
              <a:srgbClr val="55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2239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B47DE"/>
                </a:solidFill>
                <a:latin typeface="Poppins"/>
              </a:rPr>
              <a:t>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5394960"/>
            <a:ext cx="8138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9E2E6"/>
                </a:solidFill>
                <a:latin typeface="Poppins"/>
              </a:rPr>
              <a:t>I no longer think 'should we use AI in schools.' I think: which 25 minutes of pedagogy turn substitutive students into complementary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07  •  IN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We don't ban literacy. We teach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Poppins"/>
              </a:rPr>
              <a:t>If 72% of teens are already talking to AI, then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Poppins"/>
              </a:rPr>
              <a:t>AI literacy is the public-health project of this decade.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This study is a 25-minute, open-source, replicable test of one bet: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E9E2E6"/>
                </a:solidFill>
                <a:latin typeface="Poppins"/>
              </a:rPr>
              <a:t>that we can teach the dial that separates harm from help.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B0618"/>
          </a:solidFill>
          <a:ln w="9525">
            <a:solidFill>
              <a:srgbClr val="FB4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Try it →  apr-sooty.vercel.app          Fork it →  github.com/Imhaohao/AP-Research          Reach me →  hyan29@pausd.us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55000">
                <a:srgbClr val="000000"/>
              </a:gs>
              <a:gs pos="100000">
                <a:srgbClr val="34011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47DE"/>
                </a:solidFill>
                <a:latin typeface="Poppins"/>
              </a:rPr>
              <a:t>08  •  WORKS CITED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Sources for every empirical claim on every 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25400"/>
          </a:xfrm>
          <a:prstGeom prst="rect">
            <a:avLst/>
          </a:prstGeom>
          <a:solidFill>
            <a:srgbClr val="FB4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4114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B6A8B0"/>
                </a:solidFill>
                <a:latin typeface="Poppins"/>
              </a:rPr>
              <a:t>24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Chang, C. T., et al. "Red Teaming ChatGPT in Medicine to Yield Real-World Insights on Model Behavior." npj Digital Medicine, vol. 8, no. 149,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Chen, B., et al. "Unleashing the Potential of Prompt Engineering for Large Language Models." Patterns, vol. 6, no. 6, 2025, p. 101260.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Chen, I-Sheng, et al. "A Systematic Review on Prompt Engineering in Large Language Models for K-12 STEM Education." arXiv,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Common Sense Media. "Nearly 3 in 4 Teens Have Used AI Companions, New National Survey Finds."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Cornell University Center for Teaching Innovation. "Ethical AI for Teaching and Learning."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Dennison, D. V., et al. "From Consumers to Critical Users: Prompty, an AI Literacy Tool for High School Students." AAAI, vol. 37, no. 13,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Eltahir, M. E., and F. M. E. Babiker. "The Influence of Artificial Intelligence Tools on Student Performance in e-Learning Environments: Case Study." EJEL, vol. 22, no. 9, 2024, pp. 91-110.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Gerlich, M. "AI Tools in Society: Impacts on Cognitive Offloading and the Future of Critical Thinking." Societies, vol. 15, no. 1, 2025, p. 6.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Gogan, B. "The Gen/ReGen Log: Refining the Rhetoric of Structured Prompts." The WAC Clearinghouse,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Kabeer, A., et al. "Enhancing Creative Writing Skills in Secondary School Students through Prompt Engineering and AI." Forum for Linguistic Studies,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Kosmyna, N., et al. "Your Brain on ChatGPT: Accumulation of Cognitive Debt When Using an AI Assistant for Essay Writing Task." arXiv,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Lehmann, M., et al. "AI Meets the Classroom: When Do Large Language Models Harm Learning?" arXiv,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288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Leung, C. H. "Promoting Optimal Learning with ChatGPT." Asian Journal of Contemporary Education, vol. 8, no. 2, 2024, pp. 104-114.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Maharjan, J., et al. "OpenMedLM: Prompt Engineering Can Out-perform Fine-tuning in Medical Question-Answering with Open-Source LLMs." Scientific Reports, vol. 14, no. 14156,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MIT Sloan Teaching &amp; Learning Technologies. "Effective Prompts for AI: The Essentials."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Park, J., and S. Choo. "Generative AI Prompt Engineering for Educators: Practical Strategies." Journal of Special Education Technology,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Patel, D., et al. "Evaluating PE on GPT-3.5's Performance in USMLE-Style Medical Calculations." Scientific Reports, vol. 14, no. 17341, 2024.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Shojaee, P., et al. "The Illusion of Thinking." Apple ML Research,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Singhal, K., et al. "Large Language Models Encode Clinical Knowledge." Nature, vol. 620, 2023, pp. 172-180.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Vatsal, S., et al. "Multilingual Prompt Engineering in Large Language Models: A Survey across NLP Tasks." arXiv, 2025.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Woo, D. J., et al. "Cases of EFL Secondary Students' Prompt Engineering Pathways to Complete a Writing Task with ChatGPT." arXiv, 2023.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Xiao, Z., et al. "Rubric-Anchored LLM-as-Judge Grading of Student Prompts." 2025 — rubric source for the auto-grader in this study.</a:t>
            </a:r>
          </a:p>
          <a:p>
            <a:pPr algn="l">
              <a:lnSpc>
                <a:spcPct val="135000"/>
              </a:lnSpc>
            </a:pPr>
            <a:r>
              <a:rPr sz="850" b="0" i="0">
                <a:solidFill>
                  <a:srgbClr val="E9E2E6"/>
                </a:solidFill>
                <a:latin typeface="Poppins"/>
              </a:rPr>
              <a:t>• Xie, B., et al. "Teachers' Considerations for AI Across Disciplines." AAAI, vol. 38, no. 21,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