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strong. One question: can a short lesson change how students think with AI?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in four teens already use AI. The intervention question is urgent, not theoretical.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substitution vs complementarity clearly. Prompting skill is the dial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at 83.3%. Frame cognitive debt as compounding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your visual breath slide. One sentence only; let it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across Role, Context, Task, Verify. Keep this practical.</a:t>
            </a:r>
          </a:p>
          <a:p/>
          <a:p>
            <a:r>
              <a:t>Core beats for "Prompt engineering = programmable language":</a:t>
            </a:r>
          </a:p>
          <a:p>
            <a:r>
              <a:t>- Role: define who the model should be</a:t>
            </a:r>
          </a:p>
          <a:p>
            <a:r>
              <a:t>- Context: include constraints and audience</a:t>
            </a:r>
          </a:p>
          <a:p>
            <a:r>
              <a:t>- Task: specify artifact and format</a:t>
            </a:r>
          </a:p>
          <a:p>
            <a:r>
              <a:t>- Verify: check claims before acceptance</a:t>
            </a:r>
          </a:p>
          <a:p/>
          <a:p>
            <a:r>
              <a:t>Delivery cue: land one bullet per beat, pause briefly, then bridge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Locate your contribution in one sentence: scored, real-student, controlled data.</a:t>
            </a:r>
          </a:p>
          <a:p/>
          <a:p>
            <a:r>
              <a:t>Core beats for "Curricula exist, evidence is thin":</a:t>
            </a:r>
          </a:p>
          <a:p>
            <a:r>
              <a:t>- Strong frameworks already exist (CRAFT, Prompty, IDEA/PARTS)</a:t>
            </a:r>
          </a:p>
          <a:p>
            <a:r>
              <a:t>- Few K-12 studies run controlled classroom comparisons</a:t>
            </a:r>
          </a:p>
          <a:p>
            <a:r>
              <a:t>- Prompt transparency is often missing</a:t>
            </a:r>
          </a:p>
          <a:p>
            <a:r>
              <a:t>- Restrictive-policy districts are understudied</a:t>
            </a:r>
          </a:p>
          <a:p/>
          <a:p>
            <a:r>
              <a:t>Delivery cue: land one bullet per beat, pause briefly, then bridge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RQ slowly; then tap each pillar.</a:t>
            </a:r>
          </a:p>
          <a:p/>
          <a:p>
            <a:r>
              <a:t>Core beats for "One question, three measurable outcomes":</a:t>
            </a:r>
          </a:p>
          <a:p>
            <a:r>
              <a:t>- RQ1: Substitutive-use behavior index</a:t>
            </a:r>
          </a:p>
          <a:p>
            <a:r>
              <a:t>- RQ2: Prompt-quality rubric pass rates</a:t>
            </a:r>
          </a:p>
          <a:p>
            <a:r>
              <a:t>- RQ3: Hallucination detect-and-correct accuracy</a:t>
            </a:r>
          </a:p>
          <a:p/>
          <a:p>
            <a:r>
              <a:t>Delivery cue: land one bullet per beat, pause briefly, then bridge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falsifiers out loud. That signals rigorous design.</a:t>
            </a:r>
          </a:p>
          <a:p/>
          <a:p>
            <a:r>
              <a:t>Core beats for "Directional predictions with falsifiers":</a:t>
            </a:r>
          </a:p>
          <a:p>
            <a:r>
              <a:t>- H1: Treatment lowers substitutive-use index</a:t>
            </a:r>
          </a:p>
          <a:p>
            <a:r>
              <a:t>- H2: Treatment raises rubric pass rates (largest in Background/Elaboration)</a:t>
            </a:r>
          </a:p>
          <a:p>
            <a:r>
              <a:t>- H3: Treatment improves hallucination detection and correction</a:t>
            </a:r>
          </a:p>
          <a:p>
            <a:r>
              <a:t>- Each hypothesis has an explicit null/falsifier test</a:t>
            </a:r>
          </a:p>
          <a:p/>
          <a:p>
            <a:r>
              <a:t>Delivery cue: land one bullet per beat, pause briefly, then bridge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isolation: only one middle block differs.</a:t>
            </a:r>
          </a:p>
          <a:p/>
          <a:p>
            <a:r>
              <a:t>Core beats for "Two-arm asynchronous quasi-experiment":</a:t>
            </a:r>
          </a:p>
          <a:p>
            <a:r>
              <a:t>- Volunteer sample; deterministic assignment via participant sequence</a:t>
            </a:r>
          </a:p>
          <a:p>
            <a:r>
              <a:t>- Control: matched-length digital literacy reading</a:t>
            </a:r>
          </a:p>
          <a:p>
            <a:r>
              <a:t>- Treatment: PE module + scenario tasks</a:t>
            </a:r>
          </a:p>
          <a:p>
            <a:r>
              <a:t>- Total session time &lt;= 60 minutes</a:t>
            </a:r>
          </a:p>
          <a:p/>
          <a:p>
            <a:r>
              <a:t>Delivery cue: land one bullet per beat, pause briefly, then bridge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mapping is the spine. Keep this clean and fast.</a:t>
            </a:r>
          </a:p>
          <a:p/>
          <a:p>
            <a:r>
              <a:t>Core beats for "Three scenarios map to three RQs":</a:t>
            </a:r>
          </a:p>
          <a:p>
            <a:r>
              <a:t>- S1 Ethical use -&gt; RQ1 behavior</a:t>
            </a:r>
          </a:p>
          <a:p>
            <a:r>
              <a:t>- S2 Iteration -&gt; RQ2 prompt quality</a:t>
            </a:r>
          </a:p>
          <a:p>
            <a:r>
              <a:t>- S3 Verification -&gt; RQ3 hallucination handling</a:t>
            </a:r>
          </a:p>
          <a:p>
            <a:r>
              <a:t>- Common scoring pipeline across all scenarios</a:t>
            </a:r>
          </a:p>
          <a:p/>
          <a:p>
            <a:r>
              <a:t>Delivery cue: land one bullet per beat, pause briefly, then bridge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calibration choice and consistency benefits.</a:t>
            </a:r>
          </a:p>
          <a:p/>
          <a:p>
            <a:r>
              <a:t>Core beats for "How prompts become numbers":</a:t>
            </a:r>
          </a:p>
          <a:p>
            <a:r>
              <a:t>- Six binary dimensions (Xiao et al.)</a:t>
            </a:r>
          </a:p>
          <a:p>
            <a:r>
              <a:t>- GPT-4o judge, temperature 0, JSON-only output</a:t>
            </a:r>
          </a:p>
          <a:p>
            <a:r>
              <a:t>- Scenario-aware system prompt, fixed grading instructions</a:t>
            </a:r>
          </a:p>
          <a:p>
            <a:r>
              <a:t>- Dimension-level pass rates feed inferential tests</a:t>
            </a:r>
          </a:p>
          <a:p/>
          <a:p>
            <a:r>
              <a:t>Delivery cue: land one bullet per beat, pause briefly, then bridge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Behavioral logs are key: not just self-report.</a:t>
            </a:r>
          </a:p>
          <a:p/>
          <a:p>
            <a:r>
              <a:t>Core beats for "Pre/post measurement battery":</a:t>
            </a:r>
          </a:p>
          <a:p>
            <a:r>
              <a:t>- Knowledge checks (T/F + open responses)</a:t>
            </a:r>
          </a:p>
          <a:p>
            <a:r>
              <a:t>- Hallucination subtest with planted errors</a:t>
            </a:r>
          </a:p>
          <a:p>
            <a:r>
              <a:t>- Confidence battery for placebo/familiarity control</a:t>
            </a:r>
          </a:p>
          <a:p>
            <a:r>
              <a:t>- CRAFT task logs live behavior with AI</a:t>
            </a:r>
          </a:p>
          <a:p/>
          <a:p>
            <a:r>
              <a:t>Delivery cue: land one bullet per beat, pause briefly, then bridge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Replication is a research value proposition, not a side note.</a:t>
            </a:r>
          </a:p>
          <a:p/>
          <a:p>
            <a:r>
              <a:t>Core beats for "Built end-to-end for replication":</a:t>
            </a:r>
          </a:p>
          <a:p>
            <a:r>
              <a:t>- Next.js frontend + Supabase backend</a:t>
            </a:r>
          </a:p>
          <a:p>
            <a:r>
              <a:t>- Typed API route for auto-grading</a:t>
            </a:r>
          </a:p>
          <a:p>
            <a:r>
              <a:t>- SQL views flatten event logs for analysis</a:t>
            </a:r>
          </a:p>
          <a:p>
            <a:r>
              <a:t>- Open-source workflow for district replication</a:t>
            </a:r>
          </a:p>
          <a:p/>
          <a:p>
            <a:r>
              <a:t>Delivery cue: land one bullet per beat, pause briefly, then bridge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Acknowledge weakest rubric dimension and ongoing calibration.</a:t>
            </a:r>
          </a:p>
          <a:p/>
          <a:p>
            <a:r>
              <a:t>Core beats for "Can the model judge accurately?":</a:t>
            </a:r>
          </a:p>
          <a:p>
            <a:r>
              <a:t>- 15% stratified human audit sample</a:t>
            </a:r>
          </a:p>
          <a:p>
            <a:r>
              <a:t>- Inter-rater target: kappa &gt;= 0.80</a:t>
            </a:r>
          </a:p>
          <a:p>
            <a:r>
              <a:t>- Auto-vs-gold target: kappa &gt;= 0.92</a:t>
            </a:r>
          </a:p>
          <a:p>
            <a:r>
              <a:t>- Preliminary overall agreement meets deployment threshold</a:t>
            </a:r>
          </a:p>
          <a:p/>
          <a:p>
            <a:r>
              <a:t>Delivery cue: land one bullet per beat, pause briefly, then bridge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defense day: fill with final stats. Lead with effect size, not just p-values.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defense day: fill with final stats. Lead with effect size, not just p-values.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defense day: fill with final stats. Lead with effect size, not just p-values.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this as a logic chain, not as isolated claims.</a:t>
            </a:r>
          </a:p>
          <a:p/>
          <a:p>
            <a:r>
              <a:t>Core beats for "Evidence -&gt; conclusion -&gt; consequence":</a:t>
            </a:r>
          </a:p>
          <a:p>
            <a:r>
              <a:t>- Evidence: substitution hurts, complementarity helps</a:t>
            </a:r>
          </a:p>
          <a:p>
            <a:r>
              <a:t>- Mechanism: prompt skill shifts use mode</a:t>
            </a:r>
          </a:p>
          <a:p>
            <a:r>
              <a:t>- Conclusion: short PE instruction can move behavior</a:t>
            </a:r>
          </a:p>
          <a:p>
            <a:r>
              <a:t>- Consequence: literacy-first policy outperforms blanket bans</a:t>
            </a:r>
          </a:p>
          <a:p/>
          <a:p>
            <a:r>
              <a:t>Delivery cue: land one bullet per beat, pause briefly, then bridge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each implication with a concrete implementation action.</a:t>
            </a:r>
          </a:p>
          <a:p/>
          <a:p>
            <a:r>
              <a:t>Core beats for "What changes if findings hold":</a:t>
            </a:r>
          </a:p>
          <a:p>
            <a:r>
              <a:t>- PAUSD: pilot short PE modules in ELA/history</a:t>
            </a:r>
          </a:p>
          <a:p>
            <a:r>
              <a:t>- Schools: low-cost open-source intervention template</a:t>
            </a:r>
          </a:p>
          <a:p>
            <a:r>
              <a:t>- Research: reusable scoring protocol + comparable metrics</a:t>
            </a:r>
          </a:p>
          <a:p/>
          <a:p>
            <a:r>
              <a:t>Delivery cue: land one bullet per beat, pause briefly, then bridge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Explicit limits increase credibility. Keep tone confident.</a:t>
            </a:r>
          </a:p>
          <a:p/>
          <a:p>
            <a:r>
              <a:t>Core beats for "Boundaries and next studies":</a:t>
            </a:r>
          </a:p>
          <a:p>
            <a:r>
              <a:t>- Single district and volunteer sampling</a:t>
            </a:r>
          </a:p>
          <a:p>
            <a:r>
              <a:t>- Limited power for arm-specific effects</a:t>
            </a:r>
          </a:p>
          <a:p>
            <a:r>
              <a:t>- Optional retention follow-up risks attrition bias</a:t>
            </a:r>
          </a:p>
          <a:p>
            <a:r>
              <a:t>- Next: n ~ 90 multi-district replication</a:t>
            </a:r>
          </a:p>
          <a:p/>
          <a:p>
            <a:r>
              <a:t>Delivery cue: land one bullet per beat, pause briefly, then bridge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earns reflection points. Be personal, but concise.</a:t>
            </a:r>
          </a:p>
          <a:p/>
          <a:p>
            <a:r>
              <a:t>Core beats for "How my thinking evolved":</a:t>
            </a:r>
          </a:p>
          <a:p>
            <a:r>
              <a:t>- From ban-first intuition to literacy-first framing</a:t>
            </a:r>
          </a:p>
          <a:p>
            <a:r>
              <a:t>- From descriptive concern to measurable intervention</a:t>
            </a:r>
          </a:p>
          <a:p>
            <a:r>
              <a:t>- From prompt tips to auditable rubric logic</a:t>
            </a:r>
          </a:p>
          <a:p>
            <a:r>
              <a:t>- Current stance: teach the dial, not the fear</a:t>
            </a:r>
          </a:p>
          <a:p/>
          <a:p>
            <a:r>
              <a:t>Delivery cue: land one bullet per beat, pause briefly, then bridge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Pause, then invite questions. End on agency.</a:t>
            </a:r>
          </a:p>
          <a:p/>
          <a:p>
            <a:r>
              <a:t>Core beats for "We do not ban literacy. We teach it.":</a:t>
            </a:r>
          </a:p>
          <a:p>
            <a:r>
              <a:t>- 72% are already using AI</a:t>
            </a:r>
          </a:p>
          <a:p>
            <a:r>
              <a:t>- Your study tests a practical, replicable intervention</a:t>
            </a:r>
          </a:p>
          <a:p>
            <a:r>
              <a:t>- Open stack + clear metrics make scaling realistic</a:t>
            </a:r>
          </a:p>
          <a:p/>
          <a:p>
            <a:r>
              <a:t>Delivery cue: land one bullet per beat, pause briefly, then bridge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on screen for panel verification. Do not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011680" y="2286000"/>
            <a:ext cx="4937760" cy="4937760"/>
          </a:xfrm>
          <a:prstGeom prst="ellipse">
            <a:avLst/>
          </a:prstGeom>
          <a:solidFill>
            <a:srgbClr val="A90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4864" cy="2286000"/>
          </a:xfrm>
          <a:prstGeom prst="rect">
            <a:avLst/>
          </a:prstGeom>
          <a:solidFill>
            <a:srgbClr val="FB4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0515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B47DE"/>
                </a:solidFill>
                <a:latin typeface="Poppins"/>
              </a:rPr>
              <a:t>AP RESEARCH • ORAL DEFENSE • 2025-26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FFFFFF"/>
                </a:solidFill>
                <a:latin typeface="Poppins"/>
              </a:rPr>
              <a:t>Teaching the Machine</a:t>
            </a:r>
          </a:p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FFFFFF"/>
                </a:solidFill>
                <a:latin typeface="Poppins"/>
              </a:rPr>
              <a:t>to Teach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6344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E9E2E6"/>
                </a:solidFill>
                <a:latin typeface="Poppins"/>
              </a:rPr>
              <a:t>Prompt-engineering instruction, AI reasoning, and literacy in PAUSD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9788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B6A8B0"/>
                </a:solidFill>
                <a:latin typeface="Poppins"/>
              </a:rPr>
              <a:t>Jerry Yan • Palo Alto Unified School District • apr-sooty.vercel.app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B47DE"/>
                </a:solidFill>
                <a:latin typeface="Poppins"/>
              </a:rPr>
              <a:t>01 • 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Poppins"/>
              </a:rPr>
              <a:t>We are inside an AI paradigm shift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011680" cy="25400"/>
          </a:xfrm>
          <a:prstGeom prst="rect">
            <a:avLst/>
          </a:prstGeom>
          <a:solidFill>
            <a:srgbClr val="FB4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11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B6A8B0"/>
                </a:solidFill>
                <a:latin typeface="Poppins"/>
              </a:rPr>
              <a:t>2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Poppins"/>
              </a:rPr>
              <a:t>LLMs are already shaping student cognition.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7406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E9E2E6"/>
                </a:solidFill>
                <a:latin typeface="Poppins"/>
              </a:rPr>
              <a:t>✦  72% of U.S. teens already use AI companions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72968"/>
            <a:ext cx="7406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E9E2E6"/>
                </a:solidFill>
                <a:latin typeface="Poppins"/>
              </a:rPr>
              <a:t>◆  Heaviest users show the lowest critical-thinking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39896"/>
            <a:ext cx="7406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E9E2E6"/>
                </a:solidFill>
                <a:latin typeface="Poppins"/>
              </a:rPr>
              <a:t>◉  Cognitive offloading and thinking scores: r = -0.75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06824"/>
            <a:ext cx="7406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E9E2E6"/>
                </a:solidFill>
                <a:latin typeface="Poppins"/>
              </a:rPr>
              <a:t>➤  Without intervention, this scales into workforce habits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2C2227"/>
          </a:solidFill>
          <a:ln w="9525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58200" y="201168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A90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084832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Poppins"/>
              </a:rPr>
              <a:t>STAT OF THE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60604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00" b="1" i="0">
                <a:solidFill>
                  <a:srgbClr val="FB47DE"/>
                </a:solidFill>
                <a:latin typeface="Poppins"/>
              </a:rPr>
              <a:t>72%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25196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Poppins"/>
              </a:rPr>
              <a:t>of U.S. teens use AI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Poppins"/>
              </a:rPr>
              <a:t>as a companion.</a:t>
            </a:r>
          </a:p>
        </p:txBody>
      </p:sp>
      <p:sp>
        <p:nvSpPr>
          <p:cNvPr id="19" name="Oval 18"/>
          <p:cNvSpPr/>
          <p:nvPr/>
        </p:nvSpPr>
        <p:spPr>
          <a:xfrm>
            <a:off x="8138159" y="5074920"/>
            <a:ext cx="841248" cy="841248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83879" y="5120640"/>
            <a:ext cx="749808" cy="749808"/>
          </a:xfrm>
          <a:prstGeom prst="ellipse">
            <a:avLst/>
          </a:prstGeom>
          <a:solidFill>
            <a:srgbClr val="D9A17B"/>
          </a:solidFill>
          <a:ln w="1016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loud 20"/>
          <p:cNvSpPr/>
          <p:nvPr/>
        </p:nvSpPr>
        <p:spPr>
          <a:xfrm>
            <a:off x="8202167" y="5047488"/>
            <a:ext cx="713232" cy="329184"/>
          </a:xfrm>
          <a:prstGeom prst="cloud">
            <a:avLst/>
          </a:prstGeom>
          <a:solidFill>
            <a:srgbClr val="2A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21623" y="548640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41663" y="548640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miley Face 23"/>
          <p:cNvSpPr/>
          <p:nvPr/>
        </p:nvSpPr>
        <p:spPr>
          <a:xfrm>
            <a:off x="8485631" y="5650992"/>
            <a:ext cx="292608" cy="182880"/>
          </a:xfrm>
          <a:prstGeom prst="smileyFace">
            <a:avLst/>
          </a:prstGeom>
          <a:solidFill>
            <a:srgbClr val="E08AA0"/>
          </a:solidFill>
          <a:ln w="8890">
            <a:solidFill>
              <a:srgbClr val="8C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6355080"/>
            <a:ext cx="11064240" cy="12700"/>
          </a:xfrm>
          <a:prstGeom prst="rect">
            <a:avLst/>
          </a:prstGeom>
          <a:solidFill>
            <a:srgbClr val="5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B6A8B0"/>
                </a:solidFill>
                <a:latin typeface="Poppins"/>
              </a:rPr>
              <a:t>Common Sense Media, 2025 • Gerlich, Societies,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B47DE"/>
                </a:solidFill>
                <a:latin typeface="Poppins"/>
              </a:rPr>
              <a:t>01 •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Poppins"/>
              </a:rPr>
              <a:t>Two modes of AI 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011680" cy="25400"/>
          </a:xfrm>
          <a:prstGeom prst="rect">
            <a:avLst/>
          </a:prstGeom>
          <a:solidFill>
            <a:srgbClr val="FB4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11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B6A8B0"/>
                </a:solidFill>
                <a:latin typeface="Poppins"/>
              </a:rPr>
              <a:t>3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440680" cy="4206240"/>
          </a:xfrm>
          <a:prstGeom prst="roundRect">
            <a:avLst>
              <a:gd name="adj" fmla="val 6000"/>
            </a:avLst>
          </a:prstGeom>
          <a:solidFill>
            <a:srgbClr val="2C2227"/>
          </a:solidFill>
          <a:ln w="9525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01168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8B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84832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Poppins"/>
              </a:rPr>
              <a:t>SUBSTITUTIVE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060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Poppins"/>
              </a:rPr>
              <a:t>AI replaces student thinking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5468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9E2E6"/>
                </a:solidFill>
                <a:latin typeface="Poppins"/>
              </a:rPr>
              <a:t>✦  No attempt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21608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9E2E6"/>
                </a:solidFill>
                <a:latin typeface="Poppins"/>
              </a:rPr>
              <a:t>◆  Lower understanding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88536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9E2E6"/>
                </a:solidFill>
                <a:latin typeface="Poppins"/>
              </a:rPr>
              <a:t>◉  Weaker EEG coupling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55464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9E2E6"/>
                </a:solidFill>
                <a:latin typeface="Poppins"/>
              </a:rPr>
              <a:t>➤  Higher dependence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5148072"/>
            <a:ext cx="768096" cy="768096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6280" y="5193792"/>
            <a:ext cx="676656" cy="676656"/>
          </a:xfrm>
          <a:prstGeom prst="ellipse">
            <a:avLst/>
          </a:prstGeom>
          <a:solidFill>
            <a:srgbClr val="F0C8A0"/>
          </a:solidFill>
          <a:ln w="1016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loud 18"/>
          <p:cNvSpPr/>
          <p:nvPr/>
        </p:nvSpPr>
        <p:spPr>
          <a:xfrm>
            <a:off x="4544568" y="5120640"/>
            <a:ext cx="640080" cy="329184"/>
          </a:xfrm>
          <a:prstGeom prst="cloud">
            <a:avLst/>
          </a:prstGeom>
          <a:solidFill>
            <a:srgbClr val="2A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64024" y="5559552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84064" y="5559552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miley Face 21"/>
          <p:cNvSpPr/>
          <p:nvPr/>
        </p:nvSpPr>
        <p:spPr>
          <a:xfrm>
            <a:off x="4828032" y="5724144"/>
            <a:ext cx="292608" cy="182880"/>
          </a:xfrm>
          <a:prstGeom prst="smileyFace">
            <a:avLst/>
          </a:prstGeom>
          <a:solidFill>
            <a:srgbClr val="E08AA0"/>
          </a:solidFill>
          <a:ln w="8890">
            <a:solidFill>
              <a:srgbClr val="8C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72200" y="1828800"/>
            <a:ext cx="5440680" cy="4206240"/>
          </a:xfrm>
          <a:prstGeom prst="roundRect">
            <a:avLst>
              <a:gd name="adj" fmla="val 6000"/>
            </a:avLst>
          </a:prstGeom>
          <a:solidFill>
            <a:srgbClr val="2C2227"/>
          </a:solidFill>
          <a:ln w="9525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201168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A90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084832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Poppins"/>
              </a:rPr>
              <a:t>COMPLEMENTARY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6060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Poppins"/>
              </a:rPr>
              <a:t>AI scaffolds student thinking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15468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9E2E6"/>
                </a:solidFill>
                <a:latin typeface="Poppins"/>
              </a:rPr>
              <a:t>✦  Explain-first prompts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21608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9E2E6"/>
                </a:solidFill>
                <a:latin typeface="Poppins"/>
              </a:rPr>
              <a:t>◆  Higher comprehension gains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288536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9E2E6"/>
                </a:solidFill>
                <a:latin typeface="Poppins"/>
              </a:rPr>
              <a:t>◉  Prompt quality mediates effect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855464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9E2E6"/>
                </a:solidFill>
                <a:latin typeface="Poppins"/>
              </a:rPr>
              <a:t>➤  Better transfer</a:t>
            </a:r>
          </a:p>
        </p:txBody>
      </p:sp>
      <p:sp>
        <p:nvSpPr>
          <p:cNvPr id="31" name="Oval 30"/>
          <p:cNvSpPr/>
          <p:nvPr/>
        </p:nvSpPr>
        <p:spPr>
          <a:xfrm>
            <a:off x="10149840" y="5148072"/>
            <a:ext cx="768096" cy="768096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95560" y="5193792"/>
            <a:ext cx="676656" cy="676656"/>
          </a:xfrm>
          <a:prstGeom prst="ellipse">
            <a:avLst/>
          </a:prstGeom>
          <a:solidFill>
            <a:srgbClr val="BF835E"/>
          </a:solidFill>
          <a:ln w="1016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loud 32"/>
          <p:cNvSpPr/>
          <p:nvPr/>
        </p:nvSpPr>
        <p:spPr>
          <a:xfrm>
            <a:off x="10213848" y="5120640"/>
            <a:ext cx="640080" cy="329184"/>
          </a:xfrm>
          <a:prstGeom prst="cloud">
            <a:avLst/>
          </a:prstGeom>
          <a:solidFill>
            <a:srgbClr val="2A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33304" y="5559552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753344" y="5559552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miley Face 35"/>
          <p:cNvSpPr/>
          <p:nvPr/>
        </p:nvSpPr>
        <p:spPr>
          <a:xfrm>
            <a:off x="10497312" y="5724144"/>
            <a:ext cx="292608" cy="182880"/>
          </a:xfrm>
          <a:prstGeom prst="smileyFace">
            <a:avLst/>
          </a:prstGeom>
          <a:solidFill>
            <a:srgbClr val="E08AA0"/>
          </a:solidFill>
          <a:ln w="8890">
            <a:solidFill>
              <a:srgbClr val="8C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6355080"/>
            <a:ext cx="11064240" cy="12700"/>
          </a:xfrm>
          <a:prstGeom prst="rect">
            <a:avLst/>
          </a:prstGeom>
          <a:solidFill>
            <a:srgbClr val="5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B6A8B0"/>
                </a:solidFill>
                <a:latin typeface="Poppins"/>
              </a:rPr>
              <a:t>Lehmann et al., 2025 • Kosmyna et al., 2024 • Eltahir &amp; Babiker,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B47DE"/>
                </a:solidFill>
                <a:latin typeface="Poppins"/>
              </a:rPr>
              <a:t>01 • NEUROSCIENCE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Poppins"/>
              </a:rPr>
              <a:t>Cognitive debt is measurable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011680" cy="25400"/>
          </a:xfrm>
          <a:prstGeom prst="rect">
            <a:avLst/>
          </a:prstGeom>
          <a:solidFill>
            <a:srgbClr val="FB4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11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B6A8B0"/>
                </a:solidFill>
                <a:latin typeface="Poppins"/>
              </a:rPr>
              <a:t>4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7132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Poppins"/>
              </a:rPr>
              <a:t>MIT EEG (n = 55): LLM-assisted writing showed the weakest neural coupling.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9E2E6"/>
                </a:solidFill>
                <a:latin typeface="Poppins"/>
              </a:rPr>
              <a:t>✦  Signal drop appears after one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75888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9E2E6"/>
                </a:solidFill>
                <a:latin typeface="Poppins"/>
              </a:rPr>
              <a:t>◆  Recall quality falls immediately after assisted writing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42816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9E2E6"/>
                </a:solidFill>
                <a:latin typeface="Poppins"/>
              </a:rPr>
              <a:t>◉  Pattern aligns with offloading literature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70832"/>
            <a:ext cx="7498079" cy="1920240"/>
          </a:xfrm>
          <a:prstGeom prst="roundRect">
            <a:avLst>
              <a:gd name="adj" fmla="val 6000"/>
            </a:avLst>
          </a:prstGeom>
          <a:solidFill>
            <a:srgbClr val="2C2227"/>
          </a:solidFill>
          <a:ln w="9525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shot_2026-04-27_at_09.46.58-a1a5cb6d-7e0b-49e5-856c-5fd996b9c0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526280"/>
            <a:ext cx="7168896" cy="15727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144768"/>
            <a:ext cx="7132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B6A8B0"/>
                </a:solidFill>
                <a:latin typeface="Poppins"/>
              </a:rPr>
              <a:t>Concept visualization from cited EEG-style comparison graphic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3383280" cy="4206240"/>
          </a:xfrm>
          <a:prstGeom prst="roundRect">
            <a:avLst>
              <a:gd name="adj" fmla="val 6000"/>
            </a:avLst>
          </a:prstGeom>
          <a:solidFill>
            <a:srgbClr val="2C2227"/>
          </a:solidFill>
          <a:ln w="9525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58200" y="201168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A90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084832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Poppins"/>
              </a:rPr>
              <a:t>MIT EEG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65176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 i="0">
                <a:solidFill>
                  <a:srgbClr val="FB47DE"/>
                </a:solidFill>
                <a:latin typeface="Poppins"/>
              </a:rPr>
              <a:t>83.3%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02336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Poppins"/>
              </a:rPr>
              <a:t>less unaided recall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Poppins"/>
              </a:rPr>
              <a:t>after AI-assisted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Poppins"/>
              </a:rPr>
              <a:t>writing.</a:t>
            </a:r>
          </a:p>
        </p:txBody>
      </p:sp>
      <p:sp>
        <p:nvSpPr>
          <p:cNvPr id="21" name="Oval 20"/>
          <p:cNvSpPr/>
          <p:nvPr/>
        </p:nvSpPr>
        <p:spPr>
          <a:xfrm>
            <a:off x="8183880" y="5166360"/>
            <a:ext cx="841248" cy="841248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0" y="5212080"/>
            <a:ext cx="749808" cy="749808"/>
          </a:xfrm>
          <a:prstGeom prst="ellipse">
            <a:avLst/>
          </a:prstGeom>
          <a:solidFill>
            <a:srgbClr val="BF835E"/>
          </a:solidFill>
          <a:ln w="1016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loud 22"/>
          <p:cNvSpPr/>
          <p:nvPr/>
        </p:nvSpPr>
        <p:spPr>
          <a:xfrm>
            <a:off x="8247888" y="5138928"/>
            <a:ext cx="713232" cy="329184"/>
          </a:xfrm>
          <a:prstGeom prst="cloud">
            <a:avLst/>
          </a:prstGeom>
          <a:solidFill>
            <a:srgbClr val="2A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67344" y="5577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87384" y="5577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miley Face 25"/>
          <p:cNvSpPr/>
          <p:nvPr/>
        </p:nvSpPr>
        <p:spPr>
          <a:xfrm>
            <a:off x="8531352" y="5742432"/>
            <a:ext cx="292608" cy="182880"/>
          </a:xfrm>
          <a:prstGeom prst="smileyFace">
            <a:avLst/>
          </a:prstGeom>
          <a:solidFill>
            <a:srgbClr val="E08AA0"/>
          </a:solidFill>
          <a:ln w="8890">
            <a:solidFill>
              <a:srgbClr val="8C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6355080"/>
            <a:ext cx="11064240" cy="12700"/>
          </a:xfrm>
          <a:prstGeom prst="rect">
            <a:avLst/>
          </a:prstGeom>
          <a:solidFill>
            <a:srgbClr val="5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B6A8B0"/>
                </a:solidFill>
                <a:latin typeface="Poppins"/>
              </a:rPr>
              <a:t>Kosmyna et al., 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2026-04-26_at_23.18.05-136bd56b-9821-45c3-b958-b13c4f51f8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058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200" b="1" i="0">
                <a:solidFill>
                  <a:srgbClr val="FFFFFF"/>
                </a:solidFill>
                <a:latin typeface="Poppins"/>
              </a:rPr>
              <a:t>Literacy is the dial</a:t>
            </a:r>
          </a:p>
          <a:p>
            <a:pPr algn="l">
              <a:lnSpc>
                <a:spcPct val="120000"/>
              </a:lnSpc>
            </a:pPr>
            <a:r>
              <a:rPr sz="5200" b="1" i="0">
                <a:solidFill>
                  <a:srgbClr val="FFFFFF"/>
                </a:solidFill>
                <a:latin typeface="Poppins"/>
              </a:rPr>
              <a:t>between AI harm and AI help.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B47DE"/>
                </a:solidFill>
                <a:latin typeface="Poppins"/>
              </a:rPr>
              <a:t>01 • THE LEVER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Poppins"/>
              </a:rPr>
              <a:t>Prompt engineering = programmable 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011680" cy="25400"/>
          </a:xfrm>
          <a:prstGeom prst="rect">
            <a:avLst/>
          </a:prstGeom>
          <a:solidFill>
            <a:srgbClr val="FB4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11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B6A8B0"/>
                </a:solidFill>
                <a:latin typeface="Poppins"/>
              </a:rPr>
              <a:t>6 / 24</a:t>
            </a:r>
          </a:p>
        </p:txBody>
      </p:sp>
      <p:sp>
        <p:nvSpPr>
          <p:cNvPr id="9" name="Oval 8"/>
          <p:cNvSpPr/>
          <p:nvPr/>
        </p:nvSpPr>
        <p:spPr>
          <a:xfrm>
            <a:off x="10607040" y="1737360"/>
            <a:ext cx="960120" cy="96012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52760" y="1783080"/>
            <a:ext cx="868680" cy="868680"/>
          </a:xfrm>
          <a:prstGeom prst="ellipse">
            <a:avLst/>
          </a:prstGeom>
          <a:solidFill>
            <a:srgbClr val="F0C8A0"/>
          </a:solidFill>
          <a:ln w="1016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oud 10"/>
          <p:cNvSpPr/>
          <p:nvPr/>
        </p:nvSpPr>
        <p:spPr>
          <a:xfrm>
            <a:off x="10671048" y="1709928"/>
            <a:ext cx="832104" cy="329184"/>
          </a:xfrm>
          <a:prstGeom prst="cloud">
            <a:avLst/>
          </a:prstGeom>
          <a:solidFill>
            <a:srgbClr val="2A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9050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1054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miley Face 13"/>
          <p:cNvSpPr/>
          <p:nvPr/>
        </p:nvSpPr>
        <p:spPr>
          <a:xfrm>
            <a:off x="10954512" y="2313432"/>
            <a:ext cx="292608" cy="182880"/>
          </a:xfrm>
          <a:prstGeom prst="smileyFace">
            <a:avLst/>
          </a:prstGeom>
          <a:solidFill>
            <a:srgbClr val="E08AA0"/>
          </a:solidFill>
          <a:ln w="8890">
            <a:solidFill>
              <a:srgbClr val="8C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874519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✦  Role: define who the model should 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441447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◆  Context: include constraints and audience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08375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◉  Task: specify artifact and format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75303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➤  Verify: check claims before acceptance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" y="4370832"/>
            <a:ext cx="2441448" cy="475488"/>
          </a:xfrm>
          <a:prstGeom prst="roundRect">
            <a:avLst>
              <a:gd name="adj" fmla="val 25000"/>
            </a:avLst>
          </a:prstGeom>
          <a:solidFill>
            <a:srgbClr val="241B20"/>
          </a:solidFill>
          <a:ln w="9525">
            <a:solidFill>
              <a:srgbClr val="FB4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489704"/>
            <a:ext cx="22951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E9E2E6"/>
                </a:solidFill>
                <a:latin typeface="Poppins"/>
              </a:rPr>
              <a:t>Role</a:t>
            </a:r>
          </a:p>
        </p:txBody>
      </p:sp>
      <p:sp>
        <p:nvSpPr>
          <p:cNvPr id="21" name="Chevron 20"/>
          <p:cNvSpPr/>
          <p:nvPr/>
        </p:nvSpPr>
        <p:spPr>
          <a:xfrm>
            <a:off x="3332988" y="4535424"/>
            <a:ext cx="109728" cy="146304"/>
          </a:xfrm>
          <a:prstGeom prst="chevron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92424" y="4370832"/>
            <a:ext cx="2441448" cy="475488"/>
          </a:xfrm>
          <a:prstGeom prst="roundRect">
            <a:avLst>
              <a:gd name="adj" fmla="val 25000"/>
            </a:avLst>
          </a:prstGeom>
          <a:solidFill>
            <a:srgbClr val="241B20"/>
          </a:solidFill>
          <a:ln w="9525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65576" y="4489704"/>
            <a:ext cx="22951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E9E2E6"/>
                </a:solidFill>
                <a:latin typeface="Poppins"/>
              </a:rPr>
              <a:t>Context</a:t>
            </a:r>
          </a:p>
        </p:txBody>
      </p:sp>
      <p:sp>
        <p:nvSpPr>
          <p:cNvPr id="24" name="Chevron 23"/>
          <p:cNvSpPr/>
          <p:nvPr/>
        </p:nvSpPr>
        <p:spPr>
          <a:xfrm>
            <a:off x="5847588" y="4535424"/>
            <a:ext cx="109728" cy="146304"/>
          </a:xfrm>
          <a:prstGeom prst="chevron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07024" y="4370832"/>
            <a:ext cx="2441448" cy="475488"/>
          </a:xfrm>
          <a:prstGeom prst="roundRect">
            <a:avLst>
              <a:gd name="adj" fmla="val 25000"/>
            </a:avLst>
          </a:prstGeom>
          <a:solidFill>
            <a:srgbClr val="241B20"/>
          </a:solidFill>
          <a:ln w="9525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0176" y="4489704"/>
            <a:ext cx="22951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E9E2E6"/>
                </a:solidFill>
                <a:latin typeface="Poppins"/>
              </a:rPr>
              <a:t>Task</a:t>
            </a:r>
          </a:p>
        </p:txBody>
      </p:sp>
      <p:sp>
        <p:nvSpPr>
          <p:cNvPr id="27" name="Chevron 26"/>
          <p:cNvSpPr/>
          <p:nvPr/>
        </p:nvSpPr>
        <p:spPr>
          <a:xfrm>
            <a:off x="8362188" y="4535424"/>
            <a:ext cx="109728" cy="146304"/>
          </a:xfrm>
          <a:prstGeom prst="chevron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21624" y="4370832"/>
            <a:ext cx="2441448" cy="475488"/>
          </a:xfrm>
          <a:prstGeom prst="roundRect">
            <a:avLst>
              <a:gd name="adj" fmla="val 25000"/>
            </a:avLst>
          </a:prstGeom>
          <a:solidFill>
            <a:srgbClr val="241B20"/>
          </a:solidFill>
          <a:ln w="9525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94776" y="4489704"/>
            <a:ext cx="22951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E9E2E6"/>
                </a:solidFill>
                <a:latin typeface="Poppins"/>
              </a:rPr>
              <a:t>Verify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Role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94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94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Context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570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70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Task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355080"/>
            <a:ext cx="11064240" cy="12700"/>
          </a:xfrm>
          <a:prstGeom prst="rect">
            <a:avLst/>
          </a:prstGeom>
          <a:solidFill>
            <a:srgbClr val="5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B6A8B0"/>
                </a:solidFill>
                <a:latin typeface="Poppins"/>
              </a:rPr>
              <a:t>MIT Sloan, 2025 • Dennison et al., 2024 • Park &amp; Choo, 2024 • Chang et al.,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B47DE"/>
                </a:solidFill>
                <a:latin typeface="Poppins"/>
              </a:rPr>
              <a:t>01 •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Poppins"/>
              </a:rPr>
              <a:t>Curricula exist, evidence is thin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011680" cy="25400"/>
          </a:xfrm>
          <a:prstGeom prst="rect">
            <a:avLst/>
          </a:prstGeom>
          <a:solidFill>
            <a:srgbClr val="FB4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11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B6A8B0"/>
                </a:solidFill>
                <a:latin typeface="Poppins"/>
              </a:rPr>
              <a:t>7 / 24</a:t>
            </a:r>
          </a:p>
        </p:txBody>
      </p:sp>
      <p:sp>
        <p:nvSpPr>
          <p:cNvPr id="9" name="Oval 8"/>
          <p:cNvSpPr/>
          <p:nvPr/>
        </p:nvSpPr>
        <p:spPr>
          <a:xfrm>
            <a:off x="10607040" y="1737360"/>
            <a:ext cx="960120" cy="96012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52760" y="1783080"/>
            <a:ext cx="868680" cy="868680"/>
          </a:xfrm>
          <a:prstGeom prst="ellipse">
            <a:avLst/>
          </a:prstGeom>
          <a:solidFill>
            <a:srgbClr val="D9A17B"/>
          </a:solidFill>
          <a:ln w="1016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oud 10"/>
          <p:cNvSpPr/>
          <p:nvPr/>
        </p:nvSpPr>
        <p:spPr>
          <a:xfrm>
            <a:off x="10671048" y="1709928"/>
            <a:ext cx="832104" cy="329184"/>
          </a:xfrm>
          <a:prstGeom prst="cloud">
            <a:avLst/>
          </a:prstGeom>
          <a:solidFill>
            <a:srgbClr val="2A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9050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1054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miley Face 13"/>
          <p:cNvSpPr/>
          <p:nvPr/>
        </p:nvSpPr>
        <p:spPr>
          <a:xfrm>
            <a:off x="10954512" y="2313432"/>
            <a:ext cx="292608" cy="182880"/>
          </a:xfrm>
          <a:prstGeom prst="smileyFace">
            <a:avLst/>
          </a:prstGeom>
          <a:solidFill>
            <a:srgbClr val="E08AA0"/>
          </a:solidFill>
          <a:ln w="8890">
            <a:solidFill>
              <a:srgbClr val="8C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874519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✦  Strong frameworks already exist (CRAFT, Prompty, IDEA/PARTS)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441447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◆  Few K-12 studies run controlled classroom comparisons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08375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◉  Prompt transparency is often 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75303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➤  Restrictive-policy districts are understudied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1847088"/>
            <a:ext cx="3246120" cy="2697480"/>
          </a:xfrm>
          <a:prstGeom prst="roundRect">
            <a:avLst>
              <a:gd name="adj" fmla="val 6000"/>
            </a:avLst>
          </a:prstGeom>
          <a:solidFill>
            <a:srgbClr val="2C2227"/>
          </a:solidFill>
          <a:ln w="9525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1956816"/>
            <a:ext cx="29535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STUDY LANDSCAPE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68512" y="4248041"/>
            <a:ext cx="728472" cy="58782"/>
          </a:xfrm>
          <a:prstGeom prst="roundRect">
            <a:avLst>
              <a:gd name="adj" fmla="val 20000"/>
            </a:avLst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68512" y="4334256"/>
            <a:ext cx="728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B6A8B0"/>
                </a:solidFill>
                <a:latin typeface="Poppins"/>
              </a:rPr>
              <a:t>Real K-12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4101737"/>
            <a:ext cx="7284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E9E2E6"/>
                </a:solidFill>
                <a:latin typeface="Poppins"/>
              </a:rPr>
              <a:t>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98152" y="3483864"/>
            <a:ext cx="728472" cy="822960"/>
          </a:xfrm>
          <a:prstGeom prst="roundRect">
            <a:avLst>
              <a:gd name="adj" fmla="val 20000"/>
            </a:avLst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98152" y="4334256"/>
            <a:ext cx="728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B6A8B0"/>
                </a:solidFill>
                <a:latin typeface="Poppins"/>
              </a:rPr>
              <a:t>No classroom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98152" y="3337560"/>
            <a:ext cx="7284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E9E2E6"/>
                </a:solidFill>
                <a:latin typeface="Poppins"/>
              </a:rPr>
              <a:t>28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27792" y="3777778"/>
            <a:ext cx="728472" cy="529045"/>
          </a:xfrm>
          <a:prstGeom prst="roundRect">
            <a:avLst>
              <a:gd name="adj" fmla="val 20000"/>
            </a:avLst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27792" y="4334256"/>
            <a:ext cx="728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B6A8B0"/>
                </a:solidFill>
                <a:latin typeface="Poppins"/>
              </a:rPr>
              <a:t>No prompts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27792" y="3631474"/>
            <a:ext cx="7284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E9E2E6"/>
                </a:solidFill>
                <a:latin typeface="Poppins"/>
              </a:rPr>
              <a:t>18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Strong frameworks already exist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94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94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Few K-12 studies run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570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70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Prompt transparency is often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355080"/>
            <a:ext cx="11064240" cy="12700"/>
          </a:xfrm>
          <a:prstGeom prst="rect">
            <a:avLst/>
          </a:prstGeom>
          <a:solidFill>
            <a:srgbClr val="5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B6A8B0"/>
                </a:solidFill>
                <a:latin typeface="Poppins"/>
              </a:rPr>
              <a:t>Chen et al., 2024 • Dennison et al., 2024 • Gogan, 2024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B47DE"/>
                </a:solidFill>
                <a:latin typeface="Poppins"/>
              </a:rPr>
              <a:t>02 • RESEARCH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Poppins"/>
              </a:rPr>
              <a:t>One question, three measurable outcomes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011680" cy="25400"/>
          </a:xfrm>
          <a:prstGeom prst="rect">
            <a:avLst/>
          </a:prstGeom>
          <a:solidFill>
            <a:srgbClr val="FB4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11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B6A8B0"/>
                </a:solidFill>
                <a:latin typeface="Poppins"/>
              </a:rPr>
              <a:t>8 / 24</a:t>
            </a:r>
          </a:p>
        </p:txBody>
      </p:sp>
      <p:sp>
        <p:nvSpPr>
          <p:cNvPr id="9" name="Oval 8"/>
          <p:cNvSpPr/>
          <p:nvPr/>
        </p:nvSpPr>
        <p:spPr>
          <a:xfrm>
            <a:off x="10607040" y="1737360"/>
            <a:ext cx="960120" cy="96012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52760" y="1783080"/>
            <a:ext cx="868680" cy="868680"/>
          </a:xfrm>
          <a:prstGeom prst="ellipse">
            <a:avLst/>
          </a:prstGeom>
          <a:solidFill>
            <a:srgbClr val="BF835E"/>
          </a:solidFill>
          <a:ln w="1016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oud 10"/>
          <p:cNvSpPr/>
          <p:nvPr/>
        </p:nvSpPr>
        <p:spPr>
          <a:xfrm>
            <a:off x="10671048" y="1709928"/>
            <a:ext cx="832104" cy="329184"/>
          </a:xfrm>
          <a:prstGeom prst="cloud">
            <a:avLst/>
          </a:prstGeom>
          <a:solidFill>
            <a:srgbClr val="2A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9050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1054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miley Face 13"/>
          <p:cNvSpPr/>
          <p:nvPr/>
        </p:nvSpPr>
        <p:spPr>
          <a:xfrm>
            <a:off x="10954512" y="2313432"/>
            <a:ext cx="292608" cy="182880"/>
          </a:xfrm>
          <a:prstGeom prst="smileyFace">
            <a:avLst/>
          </a:prstGeom>
          <a:solidFill>
            <a:srgbClr val="E08AA0"/>
          </a:solidFill>
          <a:ln w="8890">
            <a:solidFill>
              <a:srgbClr val="8C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874519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✦  RQ1: Substitutive-use behavior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441447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◆  RQ2: Prompt-quality rubric pass rates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08375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◉  RQ3: Hallucination detect-and-correct accuracy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RQ1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94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RQ2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70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RQ3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B47DE"/>
                </a:solidFill>
                <a:latin typeface="Poppins"/>
              </a:rPr>
              <a:t>02 • HYPOTHESES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Poppins"/>
              </a:rPr>
              <a:t>Directional predictions with falsifiers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011680" cy="25400"/>
          </a:xfrm>
          <a:prstGeom prst="rect">
            <a:avLst/>
          </a:prstGeom>
          <a:solidFill>
            <a:srgbClr val="FB4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11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B6A8B0"/>
                </a:solidFill>
                <a:latin typeface="Poppins"/>
              </a:rPr>
              <a:t>9 / 24</a:t>
            </a:r>
          </a:p>
        </p:txBody>
      </p:sp>
      <p:sp>
        <p:nvSpPr>
          <p:cNvPr id="9" name="Oval 8"/>
          <p:cNvSpPr/>
          <p:nvPr/>
        </p:nvSpPr>
        <p:spPr>
          <a:xfrm>
            <a:off x="10607040" y="1737360"/>
            <a:ext cx="960120" cy="96012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52760" y="1783080"/>
            <a:ext cx="868680" cy="868680"/>
          </a:xfrm>
          <a:prstGeom prst="ellipse">
            <a:avLst/>
          </a:prstGeom>
          <a:solidFill>
            <a:srgbClr val="F0C8A0"/>
          </a:solidFill>
          <a:ln w="1016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oud 10"/>
          <p:cNvSpPr/>
          <p:nvPr/>
        </p:nvSpPr>
        <p:spPr>
          <a:xfrm>
            <a:off x="10671048" y="1709928"/>
            <a:ext cx="832104" cy="329184"/>
          </a:xfrm>
          <a:prstGeom prst="cloud">
            <a:avLst/>
          </a:prstGeom>
          <a:solidFill>
            <a:srgbClr val="2A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9050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1054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miley Face 13"/>
          <p:cNvSpPr/>
          <p:nvPr/>
        </p:nvSpPr>
        <p:spPr>
          <a:xfrm>
            <a:off x="10954512" y="2313432"/>
            <a:ext cx="292608" cy="182880"/>
          </a:xfrm>
          <a:prstGeom prst="smileyFace">
            <a:avLst/>
          </a:prstGeom>
          <a:solidFill>
            <a:srgbClr val="E08AA0"/>
          </a:solidFill>
          <a:ln w="8890">
            <a:solidFill>
              <a:srgbClr val="8C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874519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✦  H1: Treatment lowers substitutive-use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441447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◆  H2: Treatment raises rubric pass rates (largest in Background/Elaboration)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08375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◉  H3: Treatment improves hallucination detection and correction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75303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➤  Each hypothesis has an explicit null/falsifier 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H1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H2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H3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B47DE"/>
                </a:solidFill>
                <a:latin typeface="Poppins"/>
              </a:rPr>
              <a:t>03 •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Poppins"/>
              </a:rPr>
              <a:t>Two-arm asynchronous quasi-experiment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011680" cy="25400"/>
          </a:xfrm>
          <a:prstGeom prst="rect">
            <a:avLst/>
          </a:prstGeom>
          <a:solidFill>
            <a:srgbClr val="FB4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11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B6A8B0"/>
                </a:solidFill>
                <a:latin typeface="Poppins"/>
              </a:rPr>
              <a:t>10 / 24</a:t>
            </a:r>
          </a:p>
        </p:txBody>
      </p:sp>
      <p:sp>
        <p:nvSpPr>
          <p:cNvPr id="9" name="Oval 8"/>
          <p:cNvSpPr/>
          <p:nvPr/>
        </p:nvSpPr>
        <p:spPr>
          <a:xfrm>
            <a:off x="10607040" y="1737360"/>
            <a:ext cx="960120" cy="96012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52760" y="1783080"/>
            <a:ext cx="868680" cy="868680"/>
          </a:xfrm>
          <a:prstGeom prst="ellipse">
            <a:avLst/>
          </a:prstGeom>
          <a:solidFill>
            <a:srgbClr val="D9A17B"/>
          </a:solidFill>
          <a:ln w="1016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oud 10"/>
          <p:cNvSpPr/>
          <p:nvPr/>
        </p:nvSpPr>
        <p:spPr>
          <a:xfrm>
            <a:off x="10671048" y="1709928"/>
            <a:ext cx="832104" cy="329184"/>
          </a:xfrm>
          <a:prstGeom prst="cloud">
            <a:avLst/>
          </a:prstGeom>
          <a:solidFill>
            <a:srgbClr val="2A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9050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1054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miley Face 13"/>
          <p:cNvSpPr/>
          <p:nvPr/>
        </p:nvSpPr>
        <p:spPr>
          <a:xfrm>
            <a:off x="10954512" y="2313432"/>
            <a:ext cx="292608" cy="182880"/>
          </a:xfrm>
          <a:prstGeom prst="smileyFace">
            <a:avLst/>
          </a:prstGeom>
          <a:solidFill>
            <a:srgbClr val="E08AA0"/>
          </a:solidFill>
          <a:ln w="8890">
            <a:solidFill>
              <a:srgbClr val="8C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874519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✦  Volunteer sample; deterministic assignment via participant sequence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441447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◆  Control: matched-length digital literacy reading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08375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◉  Treatment: PE module + scenario 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75303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➤  Total session time &lt;= 60 minutes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Volunteer sample; deterministic assignment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Control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Treatment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B47DE"/>
                </a:solidFill>
                <a:latin typeface="Poppins"/>
              </a:rPr>
              <a:t>03 • INTERVENTION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Poppins"/>
              </a:rPr>
              <a:t>Three scenarios map to three RQs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011680" cy="25400"/>
          </a:xfrm>
          <a:prstGeom prst="rect">
            <a:avLst/>
          </a:prstGeom>
          <a:solidFill>
            <a:srgbClr val="FB4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11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B6A8B0"/>
                </a:solidFill>
                <a:latin typeface="Poppins"/>
              </a:rPr>
              <a:t>11 / 24</a:t>
            </a:r>
          </a:p>
        </p:txBody>
      </p:sp>
      <p:sp>
        <p:nvSpPr>
          <p:cNvPr id="9" name="Oval 8"/>
          <p:cNvSpPr/>
          <p:nvPr/>
        </p:nvSpPr>
        <p:spPr>
          <a:xfrm>
            <a:off x="10607040" y="1737360"/>
            <a:ext cx="960120" cy="96012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52760" y="1783080"/>
            <a:ext cx="868680" cy="868680"/>
          </a:xfrm>
          <a:prstGeom prst="ellipse">
            <a:avLst/>
          </a:prstGeom>
          <a:solidFill>
            <a:srgbClr val="BF835E"/>
          </a:solidFill>
          <a:ln w="1016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oud 10"/>
          <p:cNvSpPr/>
          <p:nvPr/>
        </p:nvSpPr>
        <p:spPr>
          <a:xfrm>
            <a:off x="10671048" y="1709928"/>
            <a:ext cx="832104" cy="329184"/>
          </a:xfrm>
          <a:prstGeom prst="cloud">
            <a:avLst/>
          </a:prstGeom>
          <a:solidFill>
            <a:srgbClr val="2A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9050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1054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miley Face 13"/>
          <p:cNvSpPr/>
          <p:nvPr/>
        </p:nvSpPr>
        <p:spPr>
          <a:xfrm>
            <a:off x="10954512" y="2313432"/>
            <a:ext cx="292608" cy="182880"/>
          </a:xfrm>
          <a:prstGeom prst="smileyFace">
            <a:avLst/>
          </a:prstGeom>
          <a:solidFill>
            <a:srgbClr val="E08AA0"/>
          </a:solidFill>
          <a:ln w="8890">
            <a:solidFill>
              <a:srgbClr val="8C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874519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✦  S1 Ethical use -&gt; RQ1 behavior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441447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◆  S2 Iteration -&gt; RQ2 prompt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08375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◉  S3 Verification -&gt; RQ3 hallucination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75303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➤  Common scoring pipeline across all scenarios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S1 Ethical use -&gt;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S2 Iteration -&gt; RQ2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S3 Verification -&gt; RQ3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B47DE"/>
                </a:solidFill>
                <a:latin typeface="Poppins"/>
              </a:rPr>
              <a:t>03 • RUBRIC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Poppins"/>
              </a:rPr>
              <a:t>How prompts become numbers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011680" cy="25400"/>
          </a:xfrm>
          <a:prstGeom prst="rect">
            <a:avLst/>
          </a:prstGeom>
          <a:solidFill>
            <a:srgbClr val="FB4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11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B6A8B0"/>
                </a:solidFill>
                <a:latin typeface="Poppins"/>
              </a:rPr>
              <a:t>12 / 24</a:t>
            </a:r>
          </a:p>
        </p:txBody>
      </p:sp>
      <p:sp>
        <p:nvSpPr>
          <p:cNvPr id="9" name="Oval 8"/>
          <p:cNvSpPr/>
          <p:nvPr/>
        </p:nvSpPr>
        <p:spPr>
          <a:xfrm>
            <a:off x="10607040" y="1737360"/>
            <a:ext cx="960120" cy="96012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52760" y="1783080"/>
            <a:ext cx="868680" cy="868680"/>
          </a:xfrm>
          <a:prstGeom prst="ellipse">
            <a:avLst/>
          </a:prstGeom>
          <a:solidFill>
            <a:srgbClr val="F0C8A0"/>
          </a:solidFill>
          <a:ln w="1016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oud 10"/>
          <p:cNvSpPr/>
          <p:nvPr/>
        </p:nvSpPr>
        <p:spPr>
          <a:xfrm>
            <a:off x="10671048" y="1709928"/>
            <a:ext cx="832104" cy="329184"/>
          </a:xfrm>
          <a:prstGeom prst="cloud">
            <a:avLst/>
          </a:prstGeom>
          <a:solidFill>
            <a:srgbClr val="2A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9050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1054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miley Face 13"/>
          <p:cNvSpPr/>
          <p:nvPr/>
        </p:nvSpPr>
        <p:spPr>
          <a:xfrm>
            <a:off x="10954512" y="2313432"/>
            <a:ext cx="292608" cy="182880"/>
          </a:xfrm>
          <a:prstGeom prst="smileyFace">
            <a:avLst/>
          </a:prstGeom>
          <a:solidFill>
            <a:srgbClr val="E08AA0"/>
          </a:solidFill>
          <a:ln w="8890">
            <a:solidFill>
              <a:srgbClr val="8C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874519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✦  Six binary dimensions (Xiao et al.)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441447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◆  GPT-4o judge, temperature 0, JSON-only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08375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◉  Scenario-aware system prompt, fixed grading instructions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75303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➤  Dimension-level pass rates feed inferential tests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1847088"/>
            <a:ext cx="3246120" cy="2697480"/>
          </a:xfrm>
          <a:prstGeom prst="roundRect">
            <a:avLst>
              <a:gd name="adj" fmla="val 6000"/>
            </a:avLst>
          </a:prstGeom>
          <a:solidFill>
            <a:srgbClr val="2C2227"/>
          </a:solidFill>
          <a:ln w="9525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4" y="1956816"/>
            <a:ext cx="29535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PASS-FAIL AGREEMENT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68512" y="3483864"/>
            <a:ext cx="263652" cy="822960"/>
          </a:xfrm>
          <a:prstGeom prst="roundRect">
            <a:avLst>
              <a:gd name="adj" fmla="val 20000"/>
            </a:avLst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68512" y="4334256"/>
            <a:ext cx="2636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B6A8B0"/>
                </a:solidFill>
                <a:latin typeface="Poppins"/>
              </a:rPr>
              <a:t>Rel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3337560"/>
            <a:ext cx="2636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E9E2E6"/>
                </a:solidFill>
                <a:latin typeface="Poppins"/>
              </a:rPr>
              <a:t>98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33332" y="3593032"/>
            <a:ext cx="263652" cy="713791"/>
          </a:xfrm>
          <a:prstGeom prst="roundRect">
            <a:avLst>
              <a:gd name="adj" fmla="val 20000"/>
            </a:avLst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33332" y="4334256"/>
            <a:ext cx="2636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B6A8B0"/>
                </a:solidFill>
                <a:latin typeface="Poppins"/>
              </a:rPr>
              <a:t>Clr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3332" y="3446728"/>
            <a:ext cx="2636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E9E2E6"/>
                </a:solidFill>
                <a:latin typeface="Poppins"/>
              </a:rPr>
              <a:t>85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98152" y="3525851"/>
            <a:ext cx="263652" cy="780972"/>
          </a:xfrm>
          <a:prstGeom prst="roundRect">
            <a:avLst>
              <a:gd name="adj" fmla="val 20000"/>
            </a:avLst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98152" y="4334256"/>
            <a:ext cx="2636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B6A8B0"/>
                </a:solidFill>
                <a:latin typeface="Poppins"/>
              </a:rPr>
              <a:t>Con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8152" y="3379547"/>
            <a:ext cx="2636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E9E2E6"/>
                </a:solidFill>
                <a:latin typeface="Poppins"/>
              </a:rPr>
              <a:t>93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62972" y="3500659"/>
            <a:ext cx="263652" cy="806164"/>
          </a:xfrm>
          <a:prstGeom prst="roundRect">
            <a:avLst>
              <a:gd name="adj" fmla="val 20000"/>
            </a:avLst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62972" y="4334256"/>
            <a:ext cx="2636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B6A8B0"/>
                </a:solidFill>
                <a:latin typeface="Poppins"/>
              </a:rPr>
              <a:t>Bkg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62972" y="3354355"/>
            <a:ext cx="2636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E9E2E6"/>
                </a:solidFill>
                <a:latin typeface="Poppins"/>
              </a:rPr>
              <a:t>96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27792" y="3551044"/>
            <a:ext cx="263652" cy="755779"/>
          </a:xfrm>
          <a:prstGeom prst="roundRect">
            <a:avLst>
              <a:gd name="adj" fmla="val 20000"/>
            </a:avLst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27792" y="4334256"/>
            <a:ext cx="2636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B6A8B0"/>
                </a:solidFill>
                <a:latin typeface="Poppins"/>
              </a:rPr>
              <a:t>Elab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27792" y="3404740"/>
            <a:ext cx="2636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E9E2E6"/>
                </a:solidFill>
                <a:latin typeface="Poppins"/>
              </a:rPr>
              <a:t>90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92612" y="3567839"/>
            <a:ext cx="263652" cy="738984"/>
          </a:xfrm>
          <a:prstGeom prst="roundRect">
            <a:avLst>
              <a:gd name="adj" fmla="val 20000"/>
            </a:avLst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92612" y="4334256"/>
            <a:ext cx="2636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B6A8B0"/>
                </a:solidFill>
                <a:latin typeface="Poppins"/>
              </a:rPr>
              <a:t>NoAns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92612" y="3421535"/>
            <a:ext cx="2636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E9E2E6"/>
                </a:solidFill>
                <a:latin typeface="Poppins"/>
              </a:rPr>
              <a:t>88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Six binary dimensions (Xiao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348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994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994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GPT-4o judge, temperature 0,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924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570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570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Scenario-aware system prompt, fixed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6355080"/>
            <a:ext cx="11064240" cy="12700"/>
          </a:xfrm>
          <a:prstGeom prst="rect">
            <a:avLst/>
          </a:prstGeom>
          <a:solidFill>
            <a:srgbClr val="5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B6A8B0"/>
                </a:solidFill>
                <a:latin typeface="Poppins"/>
              </a:rPr>
              <a:t>Xiao et al.,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B47DE"/>
                </a:solidFill>
                <a:latin typeface="Poppins"/>
              </a:rPr>
              <a:t>03 • INSTRUMENTS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Poppins"/>
              </a:rPr>
              <a:t>Pre/post measurement battery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011680" cy="25400"/>
          </a:xfrm>
          <a:prstGeom prst="rect">
            <a:avLst/>
          </a:prstGeom>
          <a:solidFill>
            <a:srgbClr val="FB4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11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B6A8B0"/>
                </a:solidFill>
                <a:latin typeface="Poppins"/>
              </a:rPr>
              <a:t>13 / 24</a:t>
            </a:r>
          </a:p>
        </p:txBody>
      </p:sp>
      <p:sp>
        <p:nvSpPr>
          <p:cNvPr id="9" name="Oval 8"/>
          <p:cNvSpPr/>
          <p:nvPr/>
        </p:nvSpPr>
        <p:spPr>
          <a:xfrm>
            <a:off x="10607040" y="1737360"/>
            <a:ext cx="960120" cy="96012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52760" y="1783080"/>
            <a:ext cx="868680" cy="868680"/>
          </a:xfrm>
          <a:prstGeom prst="ellipse">
            <a:avLst/>
          </a:prstGeom>
          <a:solidFill>
            <a:srgbClr val="D9A17B"/>
          </a:solidFill>
          <a:ln w="1016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oud 10"/>
          <p:cNvSpPr/>
          <p:nvPr/>
        </p:nvSpPr>
        <p:spPr>
          <a:xfrm>
            <a:off x="10671048" y="1709928"/>
            <a:ext cx="832104" cy="329184"/>
          </a:xfrm>
          <a:prstGeom prst="cloud">
            <a:avLst/>
          </a:prstGeom>
          <a:solidFill>
            <a:srgbClr val="2A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9050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1054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miley Face 13"/>
          <p:cNvSpPr/>
          <p:nvPr/>
        </p:nvSpPr>
        <p:spPr>
          <a:xfrm>
            <a:off x="10954512" y="2313432"/>
            <a:ext cx="292608" cy="182880"/>
          </a:xfrm>
          <a:prstGeom prst="smileyFace">
            <a:avLst/>
          </a:prstGeom>
          <a:solidFill>
            <a:srgbClr val="E08AA0"/>
          </a:solidFill>
          <a:ln w="8890">
            <a:solidFill>
              <a:srgbClr val="8C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874519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✦  Knowledge checks (T/F + open responses)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441447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◆  Hallucination subtest with planted errors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08375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◉  Confidence battery for placebo/familiarity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75303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➤  CRAFT task logs live behavior with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Knowledge checks (T/F 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Hallucination subtest with planted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Confidence battery for placebo/familiarity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B47DE"/>
                </a:solidFill>
                <a:latin typeface="Poppins"/>
              </a:rPr>
              <a:t>03 •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Poppins"/>
              </a:rPr>
              <a:t>Built end-to-end for replication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011680" cy="25400"/>
          </a:xfrm>
          <a:prstGeom prst="rect">
            <a:avLst/>
          </a:prstGeom>
          <a:solidFill>
            <a:srgbClr val="FB4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11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B6A8B0"/>
                </a:solidFill>
                <a:latin typeface="Poppins"/>
              </a:rPr>
              <a:t>14 / 24</a:t>
            </a:r>
          </a:p>
        </p:txBody>
      </p:sp>
      <p:sp>
        <p:nvSpPr>
          <p:cNvPr id="9" name="Oval 8"/>
          <p:cNvSpPr/>
          <p:nvPr/>
        </p:nvSpPr>
        <p:spPr>
          <a:xfrm>
            <a:off x="10607040" y="1737360"/>
            <a:ext cx="960120" cy="96012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52760" y="1783080"/>
            <a:ext cx="868680" cy="868680"/>
          </a:xfrm>
          <a:prstGeom prst="ellipse">
            <a:avLst/>
          </a:prstGeom>
          <a:solidFill>
            <a:srgbClr val="BF835E"/>
          </a:solidFill>
          <a:ln w="1016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oud 10"/>
          <p:cNvSpPr/>
          <p:nvPr/>
        </p:nvSpPr>
        <p:spPr>
          <a:xfrm>
            <a:off x="10671048" y="1709928"/>
            <a:ext cx="832104" cy="329184"/>
          </a:xfrm>
          <a:prstGeom prst="cloud">
            <a:avLst/>
          </a:prstGeom>
          <a:solidFill>
            <a:srgbClr val="2A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9050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1054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miley Face 13"/>
          <p:cNvSpPr/>
          <p:nvPr/>
        </p:nvSpPr>
        <p:spPr>
          <a:xfrm>
            <a:off x="10954512" y="2313432"/>
            <a:ext cx="292608" cy="182880"/>
          </a:xfrm>
          <a:prstGeom prst="smileyFace">
            <a:avLst/>
          </a:prstGeom>
          <a:solidFill>
            <a:srgbClr val="E08AA0"/>
          </a:solidFill>
          <a:ln w="8890">
            <a:solidFill>
              <a:srgbClr val="8C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874519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✦  Next.js frontend + Supabase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441447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◆  Typed API route for auto-grading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08375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◉  SQL views flatten event logs for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75303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➤  Open-source workflow for district replication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Next.js frontend + Supabase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Typed API route for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SQL views flatten event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B47DE"/>
                </a:solidFill>
                <a:latin typeface="Poppins"/>
              </a:rPr>
              <a:t>04 •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Poppins"/>
              </a:rPr>
              <a:t>Can the model judge accurately?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011680" cy="25400"/>
          </a:xfrm>
          <a:prstGeom prst="rect">
            <a:avLst/>
          </a:prstGeom>
          <a:solidFill>
            <a:srgbClr val="FB4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11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B6A8B0"/>
                </a:solidFill>
                <a:latin typeface="Poppins"/>
              </a:rPr>
              <a:t>15 / 24</a:t>
            </a:r>
          </a:p>
        </p:txBody>
      </p:sp>
      <p:sp>
        <p:nvSpPr>
          <p:cNvPr id="9" name="Oval 8"/>
          <p:cNvSpPr/>
          <p:nvPr/>
        </p:nvSpPr>
        <p:spPr>
          <a:xfrm>
            <a:off x="10607040" y="1737360"/>
            <a:ext cx="960120" cy="96012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52760" y="1783080"/>
            <a:ext cx="868680" cy="868680"/>
          </a:xfrm>
          <a:prstGeom prst="ellipse">
            <a:avLst/>
          </a:prstGeom>
          <a:solidFill>
            <a:srgbClr val="F0C8A0"/>
          </a:solidFill>
          <a:ln w="1016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oud 10"/>
          <p:cNvSpPr/>
          <p:nvPr/>
        </p:nvSpPr>
        <p:spPr>
          <a:xfrm>
            <a:off x="10671048" y="1709928"/>
            <a:ext cx="832104" cy="329184"/>
          </a:xfrm>
          <a:prstGeom prst="cloud">
            <a:avLst/>
          </a:prstGeom>
          <a:solidFill>
            <a:srgbClr val="2A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9050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1054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miley Face 13"/>
          <p:cNvSpPr/>
          <p:nvPr/>
        </p:nvSpPr>
        <p:spPr>
          <a:xfrm>
            <a:off x="10954512" y="2313432"/>
            <a:ext cx="292608" cy="182880"/>
          </a:xfrm>
          <a:prstGeom prst="smileyFace">
            <a:avLst/>
          </a:prstGeom>
          <a:solidFill>
            <a:srgbClr val="E08AA0"/>
          </a:solidFill>
          <a:ln w="8890">
            <a:solidFill>
              <a:srgbClr val="8C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874519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✦  15% stratified human audit sample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441447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◆  Inter-rater target: kappa &gt;= 0.80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08375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◉  Auto-vs-gold target: kappa &gt;= 0.92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75303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➤  Preliminary overall agreement meets deployment threshold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15% stratified human 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Inter-rater target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Auto-vs-gold target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355080"/>
            <a:ext cx="11064240" cy="12700"/>
          </a:xfrm>
          <a:prstGeom prst="rect">
            <a:avLst/>
          </a:prstGeom>
          <a:solidFill>
            <a:srgbClr val="55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B6A8B0"/>
                </a:solidFill>
                <a:latin typeface="Poppins"/>
              </a:rPr>
              <a:t>Xiao et al.,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B47DE"/>
                </a:solidFill>
                <a:latin typeface="Poppins"/>
              </a:rPr>
              <a:t>04 •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Poppins"/>
              </a:rPr>
              <a:t>RQ1 — Results placeholder: Substitutive 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011680" cy="25400"/>
          </a:xfrm>
          <a:prstGeom prst="rect">
            <a:avLst/>
          </a:prstGeom>
          <a:solidFill>
            <a:srgbClr val="FB4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11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B6A8B0"/>
                </a:solidFill>
                <a:latin typeface="Poppins"/>
              </a:rPr>
              <a:t>16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7498079" cy="4297680"/>
          </a:xfrm>
          <a:prstGeom prst="roundRect">
            <a:avLst>
              <a:gd name="adj" fmla="val 6000"/>
            </a:avLst>
          </a:prstGeom>
          <a:solidFill>
            <a:srgbClr val="2C2227"/>
          </a:solidFill>
          <a:ln w="9525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B47DE"/>
                </a:solidFill>
                <a:latin typeface="Poppins"/>
              </a:rPr>
              <a:t>[ FIGURE PLACEHOLDER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Poppins"/>
              </a:rPr>
              <a:t>Insert bar chart + Welch t + Cohen 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383280" cy="4297680"/>
          </a:xfrm>
          <a:prstGeom prst="roundRect">
            <a:avLst>
              <a:gd name="adj" fmla="val 6000"/>
            </a:avLst>
          </a:prstGeom>
          <a:solidFill>
            <a:srgbClr val="2C2227"/>
          </a:solidFill>
          <a:ln w="9525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58200" y="201168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A90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084832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Poppins"/>
              </a:rPr>
              <a:t>SPEAK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0" y="1920240"/>
            <a:ext cx="841248" cy="841248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61320" y="1965960"/>
            <a:ext cx="749808" cy="749808"/>
          </a:xfrm>
          <a:prstGeom prst="ellipse">
            <a:avLst/>
          </a:prstGeom>
          <a:solidFill>
            <a:srgbClr val="D9A17B"/>
          </a:solidFill>
          <a:ln w="1016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loud 16"/>
          <p:cNvSpPr/>
          <p:nvPr/>
        </p:nvSpPr>
        <p:spPr>
          <a:xfrm>
            <a:off x="10579608" y="1892808"/>
            <a:ext cx="713232" cy="329184"/>
          </a:xfrm>
          <a:prstGeom prst="cloud">
            <a:avLst/>
          </a:prstGeom>
          <a:solidFill>
            <a:srgbClr val="2A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99064" y="233172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19104" y="233172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miley Face 19"/>
          <p:cNvSpPr/>
          <p:nvPr/>
        </p:nvSpPr>
        <p:spPr>
          <a:xfrm>
            <a:off x="10863072" y="2496312"/>
            <a:ext cx="292608" cy="182880"/>
          </a:xfrm>
          <a:prstGeom prst="smileyFace">
            <a:avLst/>
          </a:prstGeom>
          <a:solidFill>
            <a:srgbClr val="E08AA0"/>
          </a:solidFill>
          <a:ln w="8890">
            <a:solidFill>
              <a:srgbClr val="8C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2651760"/>
            <a:ext cx="301752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E9E2E6"/>
                </a:solidFill>
                <a:latin typeface="Poppins"/>
              </a:rPr>
              <a:t>Direction</a:t>
            </a:r>
          </a:p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E9E2E6"/>
                </a:solidFill>
                <a:latin typeface="Poppins"/>
              </a:rPr>
              <a:t>Effect size</a:t>
            </a:r>
          </a:p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E9E2E6"/>
                </a:solidFill>
                <a:latin typeface="Poppins"/>
              </a:rPr>
              <a:t>Uncertainty</a:t>
            </a:r>
          </a:p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E9E2E6"/>
                </a:solidFill>
                <a:latin typeface="Poppins"/>
              </a:rPr>
              <a:t>Implication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B47DE"/>
                </a:solidFill>
                <a:latin typeface="Poppins"/>
              </a:rPr>
              <a:t>04 •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Poppins"/>
              </a:rPr>
              <a:t>RQ2 — Results placeholder: Prompt quality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011680" cy="25400"/>
          </a:xfrm>
          <a:prstGeom prst="rect">
            <a:avLst/>
          </a:prstGeom>
          <a:solidFill>
            <a:srgbClr val="FB4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11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B6A8B0"/>
                </a:solidFill>
                <a:latin typeface="Poppins"/>
              </a:rPr>
              <a:t>17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7498079" cy="4297680"/>
          </a:xfrm>
          <a:prstGeom prst="roundRect">
            <a:avLst>
              <a:gd name="adj" fmla="val 6000"/>
            </a:avLst>
          </a:prstGeom>
          <a:solidFill>
            <a:srgbClr val="2C2227"/>
          </a:solidFill>
          <a:ln w="9525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B47DE"/>
                </a:solidFill>
                <a:latin typeface="Poppins"/>
              </a:rPr>
              <a:t>[ FIGURE PLACEHOLDER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Poppins"/>
              </a:rPr>
              <a:t>Insert radar/line chart + mixed ANOVA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383280" cy="4297680"/>
          </a:xfrm>
          <a:prstGeom prst="roundRect">
            <a:avLst>
              <a:gd name="adj" fmla="val 6000"/>
            </a:avLst>
          </a:prstGeom>
          <a:solidFill>
            <a:srgbClr val="2C2227"/>
          </a:solidFill>
          <a:ln w="9525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58200" y="201168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A90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084832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Poppins"/>
              </a:rPr>
              <a:t>SPEAK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0" y="1920240"/>
            <a:ext cx="841248" cy="841248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61320" y="1965960"/>
            <a:ext cx="749808" cy="749808"/>
          </a:xfrm>
          <a:prstGeom prst="ellipse">
            <a:avLst/>
          </a:prstGeom>
          <a:solidFill>
            <a:srgbClr val="BF835E"/>
          </a:solidFill>
          <a:ln w="1016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loud 16"/>
          <p:cNvSpPr/>
          <p:nvPr/>
        </p:nvSpPr>
        <p:spPr>
          <a:xfrm>
            <a:off x="10579608" y="1892808"/>
            <a:ext cx="713232" cy="329184"/>
          </a:xfrm>
          <a:prstGeom prst="cloud">
            <a:avLst/>
          </a:prstGeom>
          <a:solidFill>
            <a:srgbClr val="2A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99064" y="233172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19104" y="233172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miley Face 19"/>
          <p:cNvSpPr/>
          <p:nvPr/>
        </p:nvSpPr>
        <p:spPr>
          <a:xfrm>
            <a:off x="10863072" y="2496312"/>
            <a:ext cx="292608" cy="182880"/>
          </a:xfrm>
          <a:prstGeom prst="smileyFace">
            <a:avLst/>
          </a:prstGeom>
          <a:solidFill>
            <a:srgbClr val="E08AA0"/>
          </a:solidFill>
          <a:ln w="8890">
            <a:solidFill>
              <a:srgbClr val="8C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2651760"/>
            <a:ext cx="301752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E9E2E6"/>
                </a:solidFill>
                <a:latin typeface="Poppins"/>
              </a:rPr>
              <a:t>Direction</a:t>
            </a:r>
          </a:p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E9E2E6"/>
                </a:solidFill>
                <a:latin typeface="Poppins"/>
              </a:rPr>
              <a:t>Effect size</a:t>
            </a:r>
          </a:p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E9E2E6"/>
                </a:solidFill>
                <a:latin typeface="Poppins"/>
              </a:rPr>
              <a:t>Uncertainty</a:t>
            </a:r>
          </a:p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E9E2E6"/>
                </a:solidFill>
                <a:latin typeface="Poppins"/>
              </a:rPr>
              <a:t>Implication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B47DE"/>
                </a:solidFill>
                <a:latin typeface="Poppins"/>
              </a:rPr>
              <a:t>04 •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Poppins"/>
              </a:rPr>
              <a:t>RQ3 — Results placeholder: Hallucination handling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011680" cy="25400"/>
          </a:xfrm>
          <a:prstGeom prst="rect">
            <a:avLst/>
          </a:prstGeom>
          <a:solidFill>
            <a:srgbClr val="FB4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11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B6A8B0"/>
                </a:solidFill>
                <a:latin typeface="Poppins"/>
              </a:rPr>
              <a:t>18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7498079" cy="4297680"/>
          </a:xfrm>
          <a:prstGeom prst="roundRect">
            <a:avLst>
              <a:gd name="adj" fmla="val 6000"/>
            </a:avLst>
          </a:prstGeom>
          <a:solidFill>
            <a:srgbClr val="2C2227"/>
          </a:solidFill>
          <a:ln w="9525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B47DE"/>
                </a:solidFill>
                <a:latin typeface="Poppins"/>
              </a:rPr>
              <a:t>[ FIGURE PLACEHOLDER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Poppins"/>
              </a:rPr>
              <a:t>Insert confusion grid + proportion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383280" cy="4297680"/>
          </a:xfrm>
          <a:prstGeom prst="roundRect">
            <a:avLst>
              <a:gd name="adj" fmla="val 6000"/>
            </a:avLst>
          </a:prstGeom>
          <a:solidFill>
            <a:srgbClr val="2C2227"/>
          </a:solidFill>
          <a:ln w="9525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58200" y="201168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A90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084832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Poppins"/>
              </a:rPr>
              <a:t>SPEAK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0" y="1920240"/>
            <a:ext cx="841248" cy="841248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61320" y="1965960"/>
            <a:ext cx="749808" cy="749808"/>
          </a:xfrm>
          <a:prstGeom prst="ellipse">
            <a:avLst/>
          </a:prstGeom>
          <a:solidFill>
            <a:srgbClr val="F0C8A0"/>
          </a:solidFill>
          <a:ln w="1016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loud 16"/>
          <p:cNvSpPr/>
          <p:nvPr/>
        </p:nvSpPr>
        <p:spPr>
          <a:xfrm>
            <a:off x="10579608" y="1892808"/>
            <a:ext cx="713232" cy="329184"/>
          </a:xfrm>
          <a:prstGeom prst="cloud">
            <a:avLst/>
          </a:prstGeom>
          <a:solidFill>
            <a:srgbClr val="2A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99064" y="233172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19104" y="233172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miley Face 19"/>
          <p:cNvSpPr/>
          <p:nvPr/>
        </p:nvSpPr>
        <p:spPr>
          <a:xfrm>
            <a:off x="10863072" y="2496312"/>
            <a:ext cx="292608" cy="182880"/>
          </a:xfrm>
          <a:prstGeom prst="smileyFace">
            <a:avLst/>
          </a:prstGeom>
          <a:solidFill>
            <a:srgbClr val="E08AA0"/>
          </a:solidFill>
          <a:ln w="8890">
            <a:solidFill>
              <a:srgbClr val="8C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2651760"/>
            <a:ext cx="301752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E9E2E6"/>
                </a:solidFill>
                <a:latin typeface="Poppins"/>
              </a:rPr>
              <a:t>Direction</a:t>
            </a:r>
          </a:p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E9E2E6"/>
                </a:solidFill>
                <a:latin typeface="Poppins"/>
              </a:rPr>
              <a:t>Effect size</a:t>
            </a:r>
          </a:p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E9E2E6"/>
                </a:solidFill>
                <a:latin typeface="Poppins"/>
              </a:rPr>
              <a:t>Uncertainty</a:t>
            </a:r>
          </a:p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E9E2E6"/>
                </a:solidFill>
                <a:latin typeface="Poppins"/>
              </a:rPr>
              <a:t>Implication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B47DE"/>
                </a:solidFill>
                <a:latin typeface="Poppins"/>
              </a:rPr>
              <a:t>05 • ARGUMENT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Poppins"/>
              </a:rPr>
              <a:t>Evidence -&gt; conclusion -&gt; consequence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011680" cy="25400"/>
          </a:xfrm>
          <a:prstGeom prst="rect">
            <a:avLst/>
          </a:prstGeom>
          <a:solidFill>
            <a:srgbClr val="FB4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11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B6A8B0"/>
                </a:solidFill>
                <a:latin typeface="Poppins"/>
              </a:rPr>
              <a:t>19 / 24</a:t>
            </a:r>
          </a:p>
        </p:txBody>
      </p:sp>
      <p:sp>
        <p:nvSpPr>
          <p:cNvPr id="9" name="Oval 8"/>
          <p:cNvSpPr/>
          <p:nvPr/>
        </p:nvSpPr>
        <p:spPr>
          <a:xfrm>
            <a:off x="10607040" y="1737360"/>
            <a:ext cx="960120" cy="96012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52760" y="1783080"/>
            <a:ext cx="868680" cy="868680"/>
          </a:xfrm>
          <a:prstGeom prst="ellipse">
            <a:avLst/>
          </a:prstGeom>
          <a:solidFill>
            <a:srgbClr val="D9A17B"/>
          </a:solidFill>
          <a:ln w="1016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oud 10"/>
          <p:cNvSpPr/>
          <p:nvPr/>
        </p:nvSpPr>
        <p:spPr>
          <a:xfrm>
            <a:off x="10671048" y="1709928"/>
            <a:ext cx="832104" cy="329184"/>
          </a:xfrm>
          <a:prstGeom prst="cloud">
            <a:avLst/>
          </a:prstGeom>
          <a:solidFill>
            <a:srgbClr val="2A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9050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1054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miley Face 13"/>
          <p:cNvSpPr/>
          <p:nvPr/>
        </p:nvSpPr>
        <p:spPr>
          <a:xfrm>
            <a:off x="10954512" y="2313432"/>
            <a:ext cx="292608" cy="182880"/>
          </a:xfrm>
          <a:prstGeom prst="smileyFace">
            <a:avLst/>
          </a:prstGeom>
          <a:solidFill>
            <a:srgbClr val="E08AA0"/>
          </a:solidFill>
          <a:ln w="8890">
            <a:solidFill>
              <a:srgbClr val="8C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874519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✦  Evidence: substitution hurts, complementarity helps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441447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◆  Mechanism: prompt skill shifts use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08375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◉  Conclusion: short PE instruction can move 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75303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➤  Consequence: literacy-first policy outperforms blanket bans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Mechanism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Conclusion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B47DE"/>
                </a:solidFill>
                <a:latin typeface="Poppins"/>
              </a:rPr>
              <a:t>05 • IMPLICATIONS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Poppins"/>
              </a:rPr>
              <a:t>What changes if findings hold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011680" cy="25400"/>
          </a:xfrm>
          <a:prstGeom prst="rect">
            <a:avLst/>
          </a:prstGeom>
          <a:solidFill>
            <a:srgbClr val="FB4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11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B6A8B0"/>
                </a:solidFill>
                <a:latin typeface="Poppins"/>
              </a:rPr>
              <a:t>20 / 24</a:t>
            </a:r>
          </a:p>
        </p:txBody>
      </p:sp>
      <p:sp>
        <p:nvSpPr>
          <p:cNvPr id="9" name="Oval 8"/>
          <p:cNvSpPr/>
          <p:nvPr/>
        </p:nvSpPr>
        <p:spPr>
          <a:xfrm>
            <a:off x="10607040" y="1737360"/>
            <a:ext cx="960120" cy="96012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52760" y="1783080"/>
            <a:ext cx="868680" cy="868680"/>
          </a:xfrm>
          <a:prstGeom prst="ellipse">
            <a:avLst/>
          </a:prstGeom>
          <a:solidFill>
            <a:srgbClr val="BF835E"/>
          </a:solidFill>
          <a:ln w="1016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oud 10"/>
          <p:cNvSpPr/>
          <p:nvPr/>
        </p:nvSpPr>
        <p:spPr>
          <a:xfrm>
            <a:off x="10671048" y="1709928"/>
            <a:ext cx="832104" cy="329184"/>
          </a:xfrm>
          <a:prstGeom prst="cloud">
            <a:avLst/>
          </a:prstGeom>
          <a:solidFill>
            <a:srgbClr val="2A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9050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1054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miley Face 13"/>
          <p:cNvSpPr/>
          <p:nvPr/>
        </p:nvSpPr>
        <p:spPr>
          <a:xfrm>
            <a:off x="10954512" y="2313432"/>
            <a:ext cx="292608" cy="182880"/>
          </a:xfrm>
          <a:prstGeom prst="smileyFace">
            <a:avLst/>
          </a:prstGeom>
          <a:solidFill>
            <a:srgbClr val="E08AA0"/>
          </a:solidFill>
          <a:ln w="8890">
            <a:solidFill>
              <a:srgbClr val="8C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874519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✦  PAUSD: pilot short PE modules in ELA/history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441447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◆  Schools: low-cost open-source intervention 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08375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◉  Research: reusable scoring protocol + comparable 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PAUSD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94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Schools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70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Research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B47DE"/>
                </a:solidFill>
                <a:latin typeface="Poppins"/>
              </a:rPr>
              <a:t>05 •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Poppins"/>
              </a:rPr>
              <a:t>Boundaries and next studies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011680" cy="25400"/>
          </a:xfrm>
          <a:prstGeom prst="rect">
            <a:avLst/>
          </a:prstGeom>
          <a:solidFill>
            <a:srgbClr val="FB4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11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B6A8B0"/>
                </a:solidFill>
                <a:latin typeface="Poppins"/>
              </a:rPr>
              <a:t>21 / 24</a:t>
            </a:r>
          </a:p>
        </p:txBody>
      </p:sp>
      <p:sp>
        <p:nvSpPr>
          <p:cNvPr id="9" name="Oval 8"/>
          <p:cNvSpPr/>
          <p:nvPr/>
        </p:nvSpPr>
        <p:spPr>
          <a:xfrm>
            <a:off x="10607040" y="1737360"/>
            <a:ext cx="960120" cy="96012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52760" y="1783080"/>
            <a:ext cx="868680" cy="868680"/>
          </a:xfrm>
          <a:prstGeom prst="ellipse">
            <a:avLst/>
          </a:prstGeom>
          <a:solidFill>
            <a:srgbClr val="F0C8A0"/>
          </a:solidFill>
          <a:ln w="1016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oud 10"/>
          <p:cNvSpPr/>
          <p:nvPr/>
        </p:nvSpPr>
        <p:spPr>
          <a:xfrm>
            <a:off x="10671048" y="1709928"/>
            <a:ext cx="832104" cy="329184"/>
          </a:xfrm>
          <a:prstGeom prst="cloud">
            <a:avLst/>
          </a:prstGeom>
          <a:solidFill>
            <a:srgbClr val="2A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9050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1054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miley Face 13"/>
          <p:cNvSpPr/>
          <p:nvPr/>
        </p:nvSpPr>
        <p:spPr>
          <a:xfrm>
            <a:off x="10954512" y="2313432"/>
            <a:ext cx="292608" cy="182880"/>
          </a:xfrm>
          <a:prstGeom prst="smileyFace">
            <a:avLst/>
          </a:prstGeom>
          <a:solidFill>
            <a:srgbClr val="E08AA0"/>
          </a:solidFill>
          <a:ln w="8890">
            <a:solidFill>
              <a:srgbClr val="8C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874519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✦  Single district and volunteer sampling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441447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◆  Limited power for arm-specific effects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08375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◉  Optional retention follow-up risks attrition bias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75303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➤  Next: n ~ 90 multi-district replication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Single district and volunteer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Limited power for arm-specific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Optional retention follow-up risks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B47DE"/>
                </a:solidFill>
                <a:latin typeface="Poppins"/>
              </a:rPr>
              <a:t>06 • 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Poppins"/>
              </a:rPr>
              <a:t>How my thinking evolved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011680" cy="25400"/>
          </a:xfrm>
          <a:prstGeom prst="rect">
            <a:avLst/>
          </a:prstGeom>
          <a:solidFill>
            <a:srgbClr val="FB4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11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B6A8B0"/>
                </a:solidFill>
                <a:latin typeface="Poppins"/>
              </a:rPr>
              <a:t>22 / 24</a:t>
            </a:r>
          </a:p>
        </p:txBody>
      </p:sp>
      <p:sp>
        <p:nvSpPr>
          <p:cNvPr id="9" name="Oval 8"/>
          <p:cNvSpPr/>
          <p:nvPr/>
        </p:nvSpPr>
        <p:spPr>
          <a:xfrm>
            <a:off x="10607040" y="1737360"/>
            <a:ext cx="960120" cy="96012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52760" y="1783080"/>
            <a:ext cx="868680" cy="868680"/>
          </a:xfrm>
          <a:prstGeom prst="ellipse">
            <a:avLst/>
          </a:prstGeom>
          <a:solidFill>
            <a:srgbClr val="D9A17B"/>
          </a:solidFill>
          <a:ln w="1016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oud 10"/>
          <p:cNvSpPr/>
          <p:nvPr/>
        </p:nvSpPr>
        <p:spPr>
          <a:xfrm>
            <a:off x="10671048" y="1709928"/>
            <a:ext cx="832104" cy="329184"/>
          </a:xfrm>
          <a:prstGeom prst="cloud">
            <a:avLst/>
          </a:prstGeom>
          <a:solidFill>
            <a:srgbClr val="2A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9050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1054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miley Face 13"/>
          <p:cNvSpPr/>
          <p:nvPr/>
        </p:nvSpPr>
        <p:spPr>
          <a:xfrm>
            <a:off x="10954512" y="2313432"/>
            <a:ext cx="292608" cy="182880"/>
          </a:xfrm>
          <a:prstGeom prst="smileyFace">
            <a:avLst/>
          </a:prstGeom>
          <a:solidFill>
            <a:srgbClr val="E08AA0"/>
          </a:solidFill>
          <a:ln w="8890">
            <a:solidFill>
              <a:srgbClr val="8C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874519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✦  From ban-first intuition to literacy-first framing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441447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◆  From descriptive concern to measurable intervention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08375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◉  From prompt tips to auditable rubric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75303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➤  Current stance: teach the dial, not the fear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From ban-first intuition 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From descriptive concern 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From prompt tips to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B47DE"/>
                </a:solidFill>
                <a:latin typeface="Poppins"/>
              </a:rPr>
              <a:t>07 • 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Poppins"/>
              </a:rPr>
              <a:t>We do not ban literacy. We teach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011680" cy="25400"/>
          </a:xfrm>
          <a:prstGeom prst="rect">
            <a:avLst/>
          </a:prstGeom>
          <a:solidFill>
            <a:srgbClr val="FB4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11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B6A8B0"/>
                </a:solidFill>
                <a:latin typeface="Poppins"/>
              </a:rPr>
              <a:t>23 / 24</a:t>
            </a:r>
          </a:p>
        </p:txBody>
      </p:sp>
      <p:sp>
        <p:nvSpPr>
          <p:cNvPr id="9" name="Oval 8"/>
          <p:cNvSpPr/>
          <p:nvPr/>
        </p:nvSpPr>
        <p:spPr>
          <a:xfrm>
            <a:off x="10607040" y="1737360"/>
            <a:ext cx="960120" cy="96012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52760" y="1783080"/>
            <a:ext cx="868680" cy="868680"/>
          </a:xfrm>
          <a:prstGeom prst="ellipse">
            <a:avLst/>
          </a:prstGeom>
          <a:solidFill>
            <a:srgbClr val="BF835E"/>
          </a:solidFill>
          <a:ln w="1016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oud 10"/>
          <p:cNvSpPr/>
          <p:nvPr/>
        </p:nvSpPr>
        <p:spPr>
          <a:xfrm>
            <a:off x="10671048" y="1709928"/>
            <a:ext cx="832104" cy="329184"/>
          </a:xfrm>
          <a:prstGeom prst="cloud">
            <a:avLst/>
          </a:prstGeom>
          <a:solidFill>
            <a:srgbClr val="2A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9050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10544" y="2148840"/>
            <a:ext cx="73152" cy="7315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miley Face 13"/>
          <p:cNvSpPr/>
          <p:nvPr/>
        </p:nvSpPr>
        <p:spPr>
          <a:xfrm>
            <a:off x="10954512" y="2313432"/>
            <a:ext cx="292608" cy="182880"/>
          </a:xfrm>
          <a:prstGeom prst="smileyFace">
            <a:avLst/>
          </a:prstGeom>
          <a:solidFill>
            <a:srgbClr val="E08AA0"/>
          </a:solidFill>
          <a:ln w="8890">
            <a:solidFill>
              <a:srgbClr val="8C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874519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✦  72% are already using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441447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◆  Your study tests a practical, replicable intervention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08375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9E2E6"/>
                </a:solidFill>
                <a:latin typeface="Poppins"/>
              </a:rPr>
              <a:t>◉  Open stack + clear metrics make scaling realistic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847088"/>
            <a:ext cx="3246120" cy="2697480"/>
          </a:xfrm>
          <a:prstGeom prst="roundRect">
            <a:avLst>
              <a:gd name="adj" fmla="val 6000"/>
            </a:avLst>
          </a:prstGeom>
          <a:solidFill>
            <a:srgbClr val="2C2227"/>
          </a:solidFill>
          <a:ln w="9525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13064" y="1956816"/>
            <a:ext cx="29535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WHY THIS MATTERS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68512" y="3714292"/>
            <a:ext cx="728472" cy="592531"/>
          </a:xfrm>
          <a:prstGeom prst="roundRect">
            <a:avLst>
              <a:gd name="adj" fmla="val 20000"/>
            </a:avLst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68512" y="4334256"/>
            <a:ext cx="728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B6A8B0"/>
                </a:solidFill>
                <a:latin typeface="Poppins"/>
              </a:rPr>
              <a:t>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2" y="3567988"/>
            <a:ext cx="7284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E9E2E6"/>
                </a:solidFill>
                <a:latin typeface="Poppins"/>
              </a:rPr>
              <a:t>72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98152" y="3483864"/>
            <a:ext cx="728472" cy="822960"/>
          </a:xfrm>
          <a:prstGeom prst="roundRect">
            <a:avLst>
              <a:gd name="adj" fmla="val 20000"/>
            </a:avLst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98152" y="4334256"/>
            <a:ext cx="728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B6A8B0"/>
                </a:solidFill>
                <a:latin typeface="Poppins"/>
              </a:rPr>
              <a:t>Need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8152" y="3337560"/>
            <a:ext cx="7284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E9E2E6"/>
                </a:solidFill>
                <a:latin typeface="Poppins"/>
              </a:rPr>
              <a:t>100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27792" y="4298594"/>
            <a:ext cx="728472" cy="8229"/>
          </a:xfrm>
          <a:prstGeom prst="roundRect">
            <a:avLst>
              <a:gd name="adj" fmla="val 20000"/>
            </a:avLst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27792" y="4334256"/>
            <a:ext cx="728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B6A8B0"/>
                </a:solidFill>
                <a:latin typeface="Poppins"/>
              </a:rPr>
              <a:t>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27792" y="4152290"/>
            <a:ext cx="7284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E9E2E6"/>
                </a:solidFill>
                <a:latin typeface="Poppins"/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72% are already using 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94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Your study tests 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4983480"/>
            <a:ext cx="3383280" cy="987552"/>
          </a:xfrm>
          <a:prstGeom prst="roundRect">
            <a:avLst>
              <a:gd name="adj" fmla="val 16000"/>
            </a:avLst>
          </a:prstGeom>
          <a:solidFill>
            <a:srgbClr val="241B20"/>
          </a:solidFill>
          <a:ln w="8890">
            <a:solidFill>
              <a:srgbClr val="55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57032" y="513892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B47DE"/>
                </a:solidFill>
                <a:latin typeface="Poppins"/>
              </a:rPr>
              <a:t>KEY SIGNAL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2" y="5440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Open stack + clear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5000">
                <a:srgbClr val="000000"/>
              </a:gs>
              <a:gs pos="100000">
                <a:srgbClr val="34011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640080"/>
            <a:ext cx="2926080" cy="2926080"/>
          </a:xfrm>
          <a:prstGeom prst="ellipse">
            <a:avLst/>
          </a:prstGeom>
          <a:solidFill>
            <a:srgbClr val="A90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FB4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B47DE"/>
                </a:solidFill>
                <a:latin typeface="Poppins"/>
              </a:rPr>
              <a:t>08 • WORKS CITED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Poppins"/>
              </a:rPr>
              <a:t>MLA sources supporting claims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011680" cy="25400"/>
          </a:xfrm>
          <a:prstGeom prst="rect">
            <a:avLst/>
          </a:prstGeom>
          <a:solidFill>
            <a:srgbClr val="FB4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411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>
                <a:solidFill>
                  <a:srgbClr val="B6A8B0"/>
                </a:solidFill>
                <a:latin typeface="Poppins"/>
              </a:rPr>
              <a:t>24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48640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9E2E6"/>
                </a:solidFill>
                <a:latin typeface="Poppins"/>
              </a:rPr>
              <a:t>• Chang et al. (2025), npj Digital Medicine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9E2E6"/>
                </a:solidFill>
                <a:latin typeface="Poppins"/>
              </a:rPr>
              <a:t>• Chen et al. (2024), K-12 PE systematic review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9E2E6"/>
                </a:solidFill>
                <a:latin typeface="Poppins"/>
              </a:rPr>
              <a:t>• Common Sense Media (2025), teen AI use survey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9E2E6"/>
                </a:solidFill>
                <a:latin typeface="Poppins"/>
              </a:rPr>
              <a:t>• Dennison et al. (2024), Prompty / AAAI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9E2E6"/>
                </a:solidFill>
                <a:latin typeface="Poppins"/>
              </a:rPr>
              <a:t>• Eltahir &amp; Babiker (2024), e-learning outcomes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9E2E6"/>
                </a:solidFill>
                <a:latin typeface="Poppins"/>
              </a:rPr>
              <a:t>• Gerlich (2025), critical thinking &amp; offloading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9E2E6"/>
                </a:solidFill>
                <a:latin typeface="Poppins"/>
              </a:rPr>
              <a:t>• Gogan (2024), Gen/ReGen 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828800"/>
            <a:ext cx="548640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9E2E6"/>
                </a:solidFill>
                <a:latin typeface="Poppins"/>
              </a:rPr>
              <a:t>• Kosmyna et al. (2024), MIT EEG cognitive debt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9E2E6"/>
                </a:solidFill>
                <a:latin typeface="Poppins"/>
              </a:rPr>
              <a:t>• Lehmann et al. (2025), AI in classroom harm conditions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9E2E6"/>
                </a:solidFill>
                <a:latin typeface="Poppins"/>
              </a:rPr>
              <a:t>• MIT Sloan (2025), prompt essentials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9E2E6"/>
                </a:solidFill>
                <a:latin typeface="Poppins"/>
              </a:rPr>
              <a:t>• Park &amp; Choo (2024), educator PE strategies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9E2E6"/>
                </a:solidFill>
                <a:latin typeface="Poppins"/>
              </a:rPr>
              <a:t>• Shojaee et al. (2025), reasoning limits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9E2E6"/>
                </a:solidFill>
                <a:latin typeface="Poppins"/>
              </a:rPr>
              <a:t>• Singhal et al. (2023), clinical knowledge in LLMs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9E2E6"/>
                </a:solidFill>
                <a:latin typeface="Poppins"/>
              </a:rPr>
              <a:t>• Xiao et al. (2025), rubric-anchored LLM-as-judge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